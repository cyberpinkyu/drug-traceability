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nvas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2A25"/>
          </a:solidFill>
        </p:spPr>
      </p:sp>
      <p:sp>
        <p:nvSpPr>
          <p:cNvPr id="3" name="top-rule"/>
          <p:cNvSpPr>
            <a:spLocks noGrp="1"/>
          </p:cNvSpPr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1F7A5A"/>
          </a:solidFill>
        </p:spPr>
      </p:sp>
      <p:sp>
        <p:nvSpPr>
          <p:cNvPr id="4" name="cover-right-field"/>
          <p:cNvSpPr>
            <a:spLocks noGrp="1"/>
          </p:cNvSpPr>
          <p:nvPr/>
        </p:nvSpPr>
        <p:spPr>
          <a:xfrm>
            <a:off x="12573000" y="0"/>
            <a:ext cx="5715000" cy="10287000"/>
          </a:xfrm>
          <a:prstGeom prst="rect">
            <a:avLst/>
          </a:prstGeom>
          <a:solidFill>
            <a:srgbClr val="DDEFE8"/>
          </a:solidFill>
        </p:spPr>
      </p:sp>
      <p:sp>
        <p:nvSpPr>
          <p:cNvPr id="5" name="cover-band"/>
          <p:cNvSpPr>
            <a:spLocks noGrp="1"/>
          </p:cNvSpPr>
          <p:nvPr/>
        </p:nvSpPr>
        <p:spPr>
          <a:xfrm>
            <a:off x="0" y="7315200"/>
            <a:ext cx="12573000" cy="1143000"/>
          </a:xfrm>
          <a:prstGeom prst="rect">
            <a:avLst/>
          </a:prstGeom>
          <a:solidFill>
            <a:srgbClr val="163E36"/>
          </a:solidFill>
        </p:spPr>
      </p:sp>
      <p:sp>
        <p:nvSpPr>
          <p:cNvPr id="6" name="thin-accent"/>
          <p:cNvSpPr>
            <a:spLocks noGrp="1"/>
          </p:cNvSpPr>
          <p:nvPr/>
        </p:nvSpPr>
        <p:spPr>
          <a:xfrm>
            <a:off x="1143000" y="1600200"/>
            <a:ext cx="1752600" cy="76200"/>
          </a:xfrm>
          <a:prstGeom prst="rect">
            <a:avLst/>
          </a:prstGeom>
          <a:solidFill>
            <a:srgbClr val="D8912B"/>
          </a:solidFill>
        </p:spPr>
      </p:sp>
      <p:sp>
        <p:nvSpPr>
          <p:cNvPr id="7" name="cover-kicker"/>
          <p:cNvSpPr>
            <a:spLocks noGrp="1"/>
          </p:cNvSpPr>
          <p:nvPr/>
        </p:nvSpPr>
        <p:spPr>
          <a:xfrm>
            <a:off x="1162050" y="1316990"/>
            <a:ext cx="99060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A7D6C6"/>
                </a:solidFill>
              </a:defRPr>
            </a:pPr>
            <a:r>
              <a:rPr sz="1950" b="1">
                <a:solidFill>
                  <a:srgbClr val="A7D6C6"/>
                </a:solidFill>
              </a:rPr>
              <a:t>毕业设计答辩</a:t>
            </a:r>
            <a:endParaRPr sz="1950" b="1">
              <a:solidFill>
                <a:srgbClr val="A7D6C6"/>
              </a:solidFill>
            </a:endParaRPr>
          </a:p>
        </p:txBody>
      </p:sp>
      <p:sp>
        <p:nvSpPr>
          <p:cNvPr id="8" name="cover-title"/>
          <p:cNvSpPr>
            <a:spLocks noGrp="1"/>
          </p:cNvSpPr>
          <p:nvPr/>
        </p:nvSpPr>
        <p:spPr>
          <a:xfrm>
            <a:off x="1162050" y="2057400"/>
            <a:ext cx="9906000" cy="1790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850" b="1">
                <a:solidFill>
                  <a:srgbClr val="FFFFFF"/>
                </a:solidFill>
              </a:defRPr>
            </a:pPr>
            <a:r>
              <a:rPr sz="5850" b="1">
                <a:solidFill>
                  <a:srgbClr val="FFFFFF"/>
                </a:solidFill>
              </a:rPr>
              <a:t>基于 Spring Boot 的</a:t>
            </a:r>
            <a:endParaRPr sz="5850" b="1">
              <a:solidFill>
                <a:srgbClr val="FFFFFF"/>
              </a:solidFill>
            </a:endParaRPr>
          </a:p>
          <a:p>
            <a:pPr>
              <a:defRPr sz="5850" b="1">
                <a:solidFill>
                  <a:srgbClr val="FFFFFF"/>
                </a:solidFill>
              </a:defRPr>
            </a:pPr>
            <a:r>
              <a:rPr sz="5850" b="1">
                <a:solidFill>
                  <a:srgbClr val="FFFFFF"/>
                </a:solidFill>
              </a:rPr>
              <a:t>药品追溯监管系统</a:t>
            </a:r>
            <a:endParaRPr sz="5850" b="1">
              <a:solidFill>
                <a:srgbClr val="FFFFFF"/>
              </a:solidFill>
            </a:endParaRPr>
          </a:p>
        </p:txBody>
      </p:sp>
      <p:sp>
        <p:nvSpPr>
          <p:cNvPr id="9" name="cover-promise"/>
          <p:cNvSpPr>
            <a:spLocks noGrp="1"/>
          </p:cNvSpPr>
          <p:nvPr/>
        </p:nvSpPr>
        <p:spPr>
          <a:xfrm>
            <a:off x="1162050" y="4095750"/>
            <a:ext cx="811530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C8DDD6"/>
                </a:solidFill>
              </a:defRPr>
            </a:pPr>
            <a:r>
              <a:rPr sz="1950">
                <a:solidFill>
                  <a:srgbClr val="C8DDD6"/>
                </a:solidFill>
              </a:rPr>
              <a:t>围绕“来源可查、去向可追、责任可究”，构建 Web 管理端 + Flutter 移动端 + 后端服务的一体化监管平台。</a:t>
            </a:r>
            <a:endParaRPr sz="1950">
              <a:solidFill>
                <a:srgbClr val="C8DDD6"/>
              </a:solidFill>
            </a:endParaRPr>
          </a:p>
        </p:txBody>
      </p:sp>
      <p:sp>
        <p:nvSpPr>
          <p:cNvPr id="10" name="capsule-Spring Boot"/>
          <p:cNvSpPr>
            <a:spLocks noGrp="1"/>
          </p:cNvSpPr>
          <p:nvPr/>
        </p:nvSpPr>
        <p:spPr>
          <a:xfrm>
            <a:off x="1162050" y="4960620"/>
            <a:ext cx="1170908" cy="563880"/>
          </a:xfrm>
          <a:prstGeom prst="roundRect">
            <a:avLst>
              <a:gd name="adj" fmla="val 50000"/>
            </a:avLst>
          </a:prstGeom>
          <a:solidFill>
            <a:srgbClr val="1F7A5A"/>
          </a:solidFill>
        </p:spPr>
        <p:txBody>
          <a:bodyPr/>
          <a:p>
            <a:endParaRPr lang="zh-CN" altLang="en-US"/>
          </a:p>
        </p:txBody>
      </p:sp>
      <p:sp>
        <p:nvSpPr>
          <p:cNvPr id="11" name="capsule-text-Spring Boot"/>
          <p:cNvSpPr>
            <a:spLocks noGrp="1"/>
          </p:cNvSpPr>
          <p:nvPr/>
        </p:nvSpPr>
        <p:spPr>
          <a:xfrm>
            <a:off x="1333500" y="5109210"/>
            <a:ext cx="819150" cy="289560"/>
          </a:xfrm>
          <a:prstGeom prst="rect">
            <a:avLst/>
          </a:prstGeom>
        </p:spPr>
        <p:txBody>
          <a:bodyPr lIns="0" tIns="0" rIns="0" bIns="0" anchor="t" anchorCtr="0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SpringBoot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2" name="capsule-Vue 3"/>
          <p:cNvSpPr>
            <a:spLocks noGrp="1"/>
          </p:cNvSpPr>
          <p:nvPr/>
        </p:nvSpPr>
        <p:spPr>
          <a:xfrm>
            <a:off x="2466308" y="4960620"/>
            <a:ext cx="743331" cy="563880"/>
          </a:xfrm>
          <a:prstGeom prst="roundRect">
            <a:avLst>
              <a:gd name="adj" fmla="val 50000"/>
            </a:avLst>
          </a:prstGeom>
          <a:solidFill>
            <a:srgbClr val="1F9AA0"/>
          </a:solidFill>
        </p:spPr>
      </p:sp>
      <p:sp>
        <p:nvSpPr>
          <p:cNvPr id="13" name="capsule-text-Vue 3"/>
          <p:cNvSpPr>
            <a:spLocks noGrp="1"/>
          </p:cNvSpPr>
          <p:nvPr/>
        </p:nvSpPr>
        <p:spPr>
          <a:xfrm>
            <a:off x="2637790" y="5100320"/>
            <a:ext cx="400050" cy="289560"/>
          </a:xfrm>
          <a:prstGeom prst="rect">
            <a:avLst/>
          </a:prstGeom>
        </p:spPr>
        <p:txBody>
          <a:bodyPr lIns="0" tIns="0" rIns="0" bIns="0" anchor="t" anchorCtr="0"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Vue3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4" name="capsule-Flutter"/>
          <p:cNvSpPr>
            <a:spLocks noGrp="1"/>
          </p:cNvSpPr>
          <p:nvPr/>
        </p:nvSpPr>
        <p:spPr>
          <a:xfrm>
            <a:off x="3343275" y="4960620"/>
            <a:ext cx="813435" cy="554355"/>
          </a:xfrm>
          <a:prstGeom prst="roundRect">
            <a:avLst>
              <a:gd name="adj" fmla="val 50000"/>
            </a:avLst>
          </a:prstGeom>
          <a:solidFill>
            <a:srgbClr val="2563A8"/>
          </a:solidFill>
        </p:spPr>
      </p:sp>
      <p:sp>
        <p:nvSpPr>
          <p:cNvPr id="15" name="capsule-text-Flutter"/>
          <p:cNvSpPr>
            <a:spLocks noGrp="1"/>
          </p:cNvSpPr>
          <p:nvPr/>
        </p:nvSpPr>
        <p:spPr>
          <a:xfrm>
            <a:off x="3505200" y="5109210"/>
            <a:ext cx="476250" cy="209550"/>
          </a:xfrm>
          <a:prstGeom prst="rect">
            <a:avLst/>
          </a:prstGeom>
        </p:spPr>
        <p:txBody>
          <a:bodyPr lIns="0" tIns="0" rIns="0" bIns="0" anchor="t" anchorCtr="0"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Flutter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6" name="capsule-AI 辅助检索"/>
          <p:cNvSpPr>
            <a:spLocks noGrp="1"/>
          </p:cNvSpPr>
          <p:nvPr/>
        </p:nvSpPr>
        <p:spPr>
          <a:xfrm>
            <a:off x="4289425" y="4960620"/>
            <a:ext cx="1217295" cy="563245"/>
          </a:xfrm>
          <a:prstGeom prst="roundRect">
            <a:avLst>
              <a:gd name="adj" fmla="val 50000"/>
            </a:avLst>
          </a:prstGeom>
          <a:solidFill>
            <a:srgbClr val="D8912B"/>
          </a:solidFill>
        </p:spPr>
      </p:sp>
      <p:sp>
        <p:nvSpPr>
          <p:cNvPr id="17" name="capsule-text-AI 辅助检索"/>
          <p:cNvSpPr>
            <a:spLocks noGrp="1"/>
          </p:cNvSpPr>
          <p:nvPr/>
        </p:nvSpPr>
        <p:spPr>
          <a:xfrm>
            <a:off x="4457700" y="5126990"/>
            <a:ext cx="1084580" cy="209550"/>
          </a:xfrm>
          <a:prstGeom prst="rect">
            <a:avLst/>
          </a:prstGeom>
        </p:spPr>
        <p:txBody>
          <a:bodyPr lIns="0" tIns="0" rIns="0" bIns="0" anchor="t" anchorCtr="0"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 辅助检索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8" name="cover-author"/>
          <p:cNvSpPr>
            <a:spLocks noGrp="1"/>
          </p:cNvSpPr>
          <p:nvPr/>
        </p:nvSpPr>
        <p:spPr>
          <a:xfrm>
            <a:off x="12858750" y="7524750"/>
            <a:ext cx="49530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E2A25"/>
                </a:solidFill>
              </a:defRPr>
            </a:pPr>
            <a:r>
              <a:rPr sz="2400" b="1">
                <a:solidFill>
                  <a:srgbClr val="0E2A25"/>
                </a:solidFill>
              </a:rPr>
              <a:t>计算机221</a:t>
            </a:r>
            <a:r>
              <a:rPr lang="en-US" sz="2400" b="1">
                <a:solidFill>
                  <a:srgbClr val="0E2A25"/>
                </a:solidFill>
              </a:rPr>
              <a:t>   </a:t>
            </a:r>
            <a:r>
              <a:rPr sz="2400" b="1">
                <a:solidFill>
                  <a:srgbClr val="0E2A25"/>
                </a:solidFill>
              </a:rPr>
              <a:t>25号  余梓杰</a:t>
            </a:r>
            <a:endParaRPr sz="2400" b="1">
              <a:solidFill>
                <a:srgbClr val="0E2A25"/>
              </a:solidFill>
            </a:endParaRPr>
          </a:p>
        </p:txBody>
      </p:sp>
      <p:sp>
        <p:nvSpPr>
          <p:cNvPr id="19" name="cover-school"/>
          <p:cNvSpPr>
            <a:spLocks noGrp="1"/>
          </p:cNvSpPr>
          <p:nvPr/>
        </p:nvSpPr>
        <p:spPr>
          <a:xfrm>
            <a:off x="12858750" y="7962900"/>
            <a:ext cx="4953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49635B"/>
                </a:solidFill>
              </a:defRPr>
            </a:pPr>
            <a:r>
              <a:rPr sz="1800">
                <a:solidFill>
                  <a:srgbClr val="49635B"/>
                </a:solidFill>
              </a:rPr>
              <a:t>仲恺农业工程学院 人工智能学院</a:t>
            </a:r>
            <a:endParaRPr sz="1800">
              <a:solidFill>
                <a:srgbClr val="49635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nvas"/>
          <p:cNvSpPr>
            <a:spLocks noGrp="1"/>
          </p:cNvSpPr>
          <p:nvPr/>
        </p:nvSpPr>
        <p:spPr>
          <a:xfrm>
            <a:off x="-101600" y="0"/>
            <a:ext cx="18288000" cy="10287000"/>
          </a:xfrm>
          <a:prstGeom prst="rect">
            <a:avLst/>
          </a:prstGeom>
          <a:solidFill>
            <a:srgbClr val="F7FAF8"/>
          </a:solidFill>
        </p:spPr>
      </p:sp>
      <p:sp>
        <p:nvSpPr>
          <p:cNvPr id="3" name="top-rule"/>
          <p:cNvSpPr>
            <a:spLocks noGrp="1"/>
          </p:cNvSpPr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1F7A5A"/>
          </a:solidFill>
        </p:spPr>
      </p:sp>
      <p:sp>
        <p:nvSpPr>
          <p:cNvPr id="4" name="slide-title"/>
          <p:cNvSpPr>
            <a:spLocks noGrp="1"/>
          </p:cNvSpPr>
          <p:nvPr/>
        </p:nvSpPr>
        <p:spPr>
          <a:xfrm>
            <a:off x="1066800" y="723900"/>
            <a:ext cx="3621405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3231E"/>
                </a:solidFill>
              </a:defRPr>
            </a:pPr>
            <a:r>
              <a:rPr sz="3750" b="1">
                <a:solidFill>
                  <a:srgbClr val="13231E"/>
                </a:solidFill>
              </a:rPr>
              <a:t>研究背景与目标</a:t>
            </a:r>
            <a:endParaRPr sz="3750" b="1">
              <a:solidFill>
                <a:srgbClr val="13231E"/>
              </a:solidFill>
            </a:endParaRPr>
          </a:p>
        </p:txBody>
      </p:sp>
      <p:sp>
        <p:nvSpPr>
          <p:cNvPr id="5" name="slide-subtitle"/>
          <p:cNvSpPr>
            <a:spLocks noGrp="1"/>
          </p:cNvSpPr>
          <p:nvPr/>
        </p:nvSpPr>
        <p:spPr>
          <a:xfrm>
            <a:off x="1066800" y="1428750"/>
            <a:ext cx="7086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C6F68"/>
                </a:solidFill>
              </a:defRPr>
            </a:pPr>
            <a:r>
              <a:rPr sz="1800">
                <a:solidFill>
                  <a:srgbClr val="5C6F68"/>
                </a:solidFill>
              </a:rPr>
              <a:t>从数据分散到闭环监管：系统要解决的不只是查询，而是跨角色协同。</a:t>
            </a:r>
            <a:endParaRPr sz="1800">
              <a:solidFill>
                <a:srgbClr val="5C6F68"/>
              </a:solidFill>
            </a:endParaRPr>
          </a:p>
        </p:txBody>
      </p:sp>
      <p:sp>
        <p:nvSpPr>
          <p:cNvPr id="6" name="problem-heading"/>
          <p:cNvSpPr>
            <a:spLocks noGrp="1"/>
          </p:cNvSpPr>
          <p:nvPr/>
        </p:nvSpPr>
        <p:spPr>
          <a:xfrm>
            <a:off x="1066800" y="2057400"/>
            <a:ext cx="77343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C94A4A"/>
                </a:solidFill>
              </a:defRPr>
            </a:pPr>
            <a:r>
              <a:rPr sz="2250" b="1">
                <a:solidFill>
                  <a:srgbClr val="C94A4A"/>
                </a:solidFill>
              </a:rPr>
              <a:t>现实问题</a:t>
            </a:r>
            <a:endParaRPr sz="2250" b="1">
              <a:solidFill>
                <a:srgbClr val="C94A4A"/>
              </a:solidFill>
            </a:endParaRPr>
          </a:p>
        </p:txBody>
      </p:sp>
      <p:sp>
        <p:nvSpPr>
          <p:cNvPr id="7" name="dot-数据分散"/>
          <p:cNvSpPr>
            <a:spLocks noGrp="1"/>
          </p:cNvSpPr>
          <p:nvPr/>
        </p:nvSpPr>
        <p:spPr>
          <a:xfrm>
            <a:off x="1066800" y="2667000"/>
            <a:ext cx="171450" cy="171450"/>
          </a:xfrm>
          <a:prstGeom prst="rect">
            <a:avLst/>
          </a:prstGeom>
          <a:solidFill>
            <a:srgbClr val="C94A4A"/>
          </a:solidFill>
        </p:spPr>
      </p:sp>
      <p:sp>
        <p:nvSpPr>
          <p:cNvPr id="8" name="problem-title-数据分散"/>
          <p:cNvSpPr>
            <a:spLocks noGrp="1"/>
          </p:cNvSpPr>
          <p:nvPr/>
        </p:nvSpPr>
        <p:spPr>
          <a:xfrm>
            <a:off x="1409700" y="2667000"/>
            <a:ext cx="73914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13231E"/>
                </a:solidFill>
              </a:defRPr>
            </a:pPr>
            <a:r>
              <a:rPr sz="1950" b="1">
                <a:solidFill>
                  <a:srgbClr val="13231E"/>
                </a:solidFill>
              </a:rPr>
              <a:t>数据分散</a:t>
            </a:r>
            <a:endParaRPr sz="1950" b="1">
              <a:solidFill>
                <a:srgbClr val="13231E"/>
              </a:solidFill>
            </a:endParaRPr>
          </a:p>
        </p:txBody>
      </p:sp>
      <p:sp>
        <p:nvSpPr>
          <p:cNvPr id="9" name="problem-body-数据分散"/>
          <p:cNvSpPr>
            <a:spLocks noGrp="1"/>
          </p:cNvSpPr>
          <p:nvPr/>
        </p:nvSpPr>
        <p:spPr>
          <a:xfrm>
            <a:off x="1409700" y="3009900"/>
            <a:ext cx="7391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5C6F68"/>
                </a:solidFill>
              </a:defRPr>
            </a:pPr>
            <a:r>
              <a:rPr sz="1575">
                <a:solidFill>
                  <a:srgbClr val="5C6F68"/>
                </a:solidFill>
              </a:rPr>
              <a:t>生产、流通、使用环节信息割裂，难以快速拼接责任链。</a:t>
            </a:r>
            <a:endParaRPr sz="1575">
              <a:solidFill>
                <a:srgbClr val="5C6F68"/>
              </a:solidFill>
            </a:endParaRPr>
          </a:p>
        </p:txBody>
      </p:sp>
      <p:sp>
        <p:nvSpPr>
          <p:cNvPr id="10" name="dot-链条不完整"/>
          <p:cNvSpPr>
            <a:spLocks noGrp="1"/>
          </p:cNvSpPr>
          <p:nvPr/>
        </p:nvSpPr>
        <p:spPr>
          <a:xfrm>
            <a:off x="1066800" y="3505200"/>
            <a:ext cx="171450" cy="171450"/>
          </a:xfrm>
          <a:prstGeom prst="rect">
            <a:avLst/>
          </a:prstGeom>
          <a:solidFill>
            <a:srgbClr val="C94A4A"/>
          </a:solidFill>
        </p:spPr>
      </p:sp>
      <p:sp>
        <p:nvSpPr>
          <p:cNvPr id="11" name="problem-title-链条不完整"/>
          <p:cNvSpPr>
            <a:spLocks noGrp="1"/>
          </p:cNvSpPr>
          <p:nvPr/>
        </p:nvSpPr>
        <p:spPr>
          <a:xfrm>
            <a:off x="1409700" y="3524250"/>
            <a:ext cx="73914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13231E"/>
                </a:solidFill>
              </a:defRPr>
            </a:pPr>
            <a:r>
              <a:rPr sz="1950" b="1">
                <a:solidFill>
                  <a:srgbClr val="13231E"/>
                </a:solidFill>
              </a:rPr>
              <a:t>链条不完整</a:t>
            </a:r>
            <a:endParaRPr sz="1950" b="1">
              <a:solidFill>
                <a:srgbClr val="13231E"/>
              </a:solidFill>
            </a:endParaRPr>
          </a:p>
        </p:txBody>
      </p:sp>
      <p:sp>
        <p:nvSpPr>
          <p:cNvPr id="12" name="problem-body-链条不完整"/>
          <p:cNvSpPr>
            <a:spLocks noGrp="1"/>
          </p:cNvSpPr>
          <p:nvPr/>
        </p:nvSpPr>
        <p:spPr>
          <a:xfrm>
            <a:off x="1409700" y="3848100"/>
            <a:ext cx="7391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5C6F68"/>
                </a:solidFill>
              </a:defRPr>
            </a:pPr>
            <a:r>
              <a:rPr sz="1575">
                <a:solidFill>
                  <a:srgbClr val="5C6F68"/>
                </a:solidFill>
              </a:rPr>
              <a:t>批次、库存、销售记录若口径不统一，会影响追溯可信度。</a:t>
            </a:r>
            <a:endParaRPr sz="1575">
              <a:solidFill>
                <a:srgbClr val="5C6F68"/>
              </a:solidFill>
            </a:endParaRPr>
          </a:p>
        </p:txBody>
      </p:sp>
      <p:sp>
        <p:nvSpPr>
          <p:cNvPr id="13" name="dot-线索滞后"/>
          <p:cNvSpPr>
            <a:spLocks noGrp="1"/>
          </p:cNvSpPr>
          <p:nvPr/>
        </p:nvSpPr>
        <p:spPr>
          <a:xfrm>
            <a:off x="1066800" y="4343400"/>
            <a:ext cx="171450" cy="171450"/>
          </a:xfrm>
          <a:prstGeom prst="rect">
            <a:avLst/>
          </a:prstGeom>
          <a:solidFill>
            <a:srgbClr val="C94A4A"/>
          </a:solidFill>
        </p:spPr>
      </p:sp>
      <p:sp>
        <p:nvSpPr>
          <p:cNvPr id="14" name="problem-title-线索滞后"/>
          <p:cNvSpPr>
            <a:spLocks noGrp="1"/>
          </p:cNvSpPr>
          <p:nvPr/>
        </p:nvSpPr>
        <p:spPr>
          <a:xfrm>
            <a:off x="1409700" y="4362450"/>
            <a:ext cx="73914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13231E"/>
                </a:solidFill>
              </a:defRPr>
            </a:pPr>
            <a:r>
              <a:rPr sz="1950" b="1">
                <a:solidFill>
                  <a:srgbClr val="13231E"/>
                </a:solidFill>
              </a:rPr>
              <a:t>线索滞后</a:t>
            </a:r>
            <a:endParaRPr sz="1950" b="1">
              <a:solidFill>
                <a:srgbClr val="13231E"/>
              </a:solidFill>
            </a:endParaRPr>
          </a:p>
        </p:txBody>
      </p:sp>
      <p:sp>
        <p:nvSpPr>
          <p:cNvPr id="15" name="problem-body-线索滞后"/>
          <p:cNvSpPr>
            <a:spLocks noGrp="1"/>
          </p:cNvSpPr>
          <p:nvPr/>
        </p:nvSpPr>
        <p:spPr>
          <a:xfrm>
            <a:off x="1409700" y="4686300"/>
            <a:ext cx="7391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5C6F68"/>
                </a:solidFill>
              </a:defRPr>
            </a:pPr>
            <a:r>
              <a:rPr sz="1575">
                <a:solidFill>
                  <a:srgbClr val="5C6F68"/>
                </a:solidFill>
              </a:rPr>
              <a:t>公众问题反馈难汇聚，监管处置缺少流程化入口。</a:t>
            </a:r>
            <a:endParaRPr sz="1575">
              <a:solidFill>
                <a:srgbClr val="5C6F68"/>
              </a:solidFill>
            </a:endParaRPr>
          </a:p>
        </p:txBody>
      </p:sp>
      <p:sp>
        <p:nvSpPr>
          <p:cNvPr id="16" name="goal-heading"/>
          <p:cNvSpPr>
            <a:spLocks noGrp="1"/>
          </p:cNvSpPr>
          <p:nvPr/>
        </p:nvSpPr>
        <p:spPr>
          <a:xfrm>
            <a:off x="9486900" y="2057400"/>
            <a:ext cx="77343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F7A5A"/>
                </a:solidFill>
              </a:defRPr>
            </a:pPr>
            <a:r>
              <a:rPr sz="2250" b="1">
                <a:solidFill>
                  <a:srgbClr val="1F7A5A"/>
                </a:solidFill>
              </a:rPr>
              <a:t>设计目标</a:t>
            </a:r>
            <a:endParaRPr sz="2250" b="1">
              <a:solidFill>
                <a:srgbClr val="1F7A5A"/>
              </a:solidFill>
            </a:endParaRPr>
          </a:p>
        </p:txBody>
      </p:sp>
      <p:sp>
        <p:nvSpPr>
          <p:cNvPr id="17" name="metric-value-来源可查"/>
          <p:cNvSpPr>
            <a:spLocks noGrp="1"/>
          </p:cNvSpPr>
          <p:nvPr/>
        </p:nvSpPr>
        <p:spPr>
          <a:xfrm>
            <a:off x="9486900" y="2667000"/>
            <a:ext cx="23050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1F7A5A"/>
                </a:solidFill>
              </a:defRPr>
            </a:pPr>
            <a:r>
              <a:rPr sz="3450" b="1">
                <a:solidFill>
                  <a:srgbClr val="1F7A5A"/>
                </a:solidFill>
              </a:rPr>
              <a:t>查</a:t>
            </a:r>
            <a:endParaRPr sz="3450" b="1">
              <a:solidFill>
                <a:srgbClr val="1F7A5A"/>
              </a:solidFill>
            </a:endParaRPr>
          </a:p>
        </p:txBody>
      </p:sp>
      <p:sp>
        <p:nvSpPr>
          <p:cNvPr id="18" name="metric-label-来源可查"/>
          <p:cNvSpPr>
            <a:spLocks noGrp="1"/>
          </p:cNvSpPr>
          <p:nvPr/>
        </p:nvSpPr>
        <p:spPr>
          <a:xfrm>
            <a:off x="9486900" y="3238500"/>
            <a:ext cx="2305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5C6F68"/>
                </a:solidFill>
              </a:defRPr>
            </a:pPr>
            <a:r>
              <a:rPr sz="1350">
                <a:solidFill>
                  <a:srgbClr val="5C6F68"/>
                </a:solidFill>
              </a:rPr>
              <a:t>来源可查</a:t>
            </a:r>
            <a:endParaRPr sz="1350">
              <a:solidFill>
                <a:srgbClr val="5C6F68"/>
              </a:solidFill>
            </a:endParaRPr>
          </a:p>
        </p:txBody>
      </p:sp>
      <p:sp>
        <p:nvSpPr>
          <p:cNvPr id="19" name="metric-value-去向可追"/>
          <p:cNvSpPr>
            <a:spLocks noGrp="1"/>
          </p:cNvSpPr>
          <p:nvPr/>
        </p:nvSpPr>
        <p:spPr>
          <a:xfrm>
            <a:off x="12192000" y="2667000"/>
            <a:ext cx="23050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1F9AA0"/>
                </a:solidFill>
              </a:defRPr>
            </a:pPr>
            <a:r>
              <a:rPr sz="3450" b="1">
                <a:solidFill>
                  <a:srgbClr val="1F9AA0"/>
                </a:solidFill>
              </a:rPr>
              <a:t>追</a:t>
            </a:r>
            <a:endParaRPr sz="3450" b="1">
              <a:solidFill>
                <a:srgbClr val="1F9AA0"/>
              </a:solidFill>
            </a:endParaRPr>
          </a:p>
        </p:txBody>
      </p:sp>
      <p:sp>
        <p:nvSpPr>
          <p:cNvPr id="20" name="metric-label-去向可追"/>
          <p:cNvSpPr>
            <a:spLocks noGrp="1"/>
          </p:cNvSpPr>
          <p:nvPr/>
        </p:nvSpPr>
        <p:spPr>
          <a:xfrm>
            <a:off x="12192000" y="3238500"/>
            <a:ext cx="2305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5C6F68"/>
                </a:solidFill>
              </a:defRPr>
            </a:pPr>
            <a:r>
              <a:rPr sz="1350">
                <a:solidFill>
                  <a:srgbClr val="5C6F68"/>
                </a:solidFill>
              </a:rPr>
              <a:t>去向可追</a:t>
            </a:r>
            <a:endParaRPr sz="1350">
              <a:solidFill>
                <a:srgbClr val="5C6F68"/>
              </a:solidFill>
            </a:endParaRPr>
          </a:p>
        </p:txBody>
      </p:sp>
      <p:sp>
        <p:nvSpPr>
          <p:cNvPr id="21" name="metric-value-责任可究"/>
          <p:cNvSpPr>
            <a:spLocks noGrp="1"/>
          </p:cNvSpPr>
          <p:nvPr/>
        </p:nvSpPr>
        <p:spPr>
          <a:xfrm>
            <a:off x="14916150" y="2667000"/>
            <a:ext cx="23050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D8912B"/>
                </a:solidFill>
              </a:defRPr>
            </a:pPr>
            <a:r>
              <a:rPr sz="3450" b="1">
                <a:solidFill>
                  <a:srgbClr val="D8912B"/>
                </a:solidFill>
              </a:rPr>
              <a:t>究</a:t>
            </a:r>
            <a:endParaRPr sz="3450" b="1">
              <a:solidFill>
                <a:srgbClr val="D8912B"/>
              </a:solidFill>
            </a:endParaRPr>
          </a:p>
        </p:txBody>
      </p:sp>
      <p:sp>
        <p:nvSpPr>
          <p:cNvPr id="22" name="metric-label-责任可究"/>
          <p:cNvSpPr>
            <a:spLocks noGrp="1"/>
          </p:cNvSpPr>
          <p:nvPr/>
        </p:nvSpPr>
        <p:spPr>
          <a:xfrm>
            <a:off x="14916150" y="3238500"/>
            <a:ext cx="23050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5C6F68"/>
                </a:solidFill>
              </a:defRPr>
            </a:pPr>
            <a:r>
              <a:rPr sz="1350">
                <a:solidFill>
                  <a:srgbClr val="5C6F68"/>
                </a:solidFill>
              </a:rPr>
              <a:t>责任可究</a:t>
            </a:r>
            <a:endParaRPr sz="1350">
              <a:solidFill>
                <a:srgbClr val="5C6F68"/>
              </a:solidFill>
            </a:endParaRPr>
          </a:p>
        </p:txBody>
      </p:sp>
      <p:sp>
        <p:nvSpPr>
          <p:cNvPr id="23" name="goal-rule"/>
          <p:cNvSpPr>
            <a:spLocks noGrp="1"/>
          </p:cNvSpPr>
          <p:nvPr/>
        </p:nvSpPr>
        <p:spPr>
          <a:xfrm>
            <a:off x="9486900" y="3714750"/>
            <a:ext cx="7734300" cy="19050"/>
          </a:xfrm>
          <a:prstGeom prst="rect">
            <a:avLst/>
          </a:prstGeom>
          <a:solidFill>
            <a:srgbClr val="D4E3DE"/>
          </a:solidFill>
          <a:ln w="0">
            <a:solidFill>
              <a:srgbClr val="D4E3DE"/>
            </a:solidFill>
            <a:prstDash val="solid"/>
          </a:ln>
        </p:spPr>
      </p:sp>
      <p:sp>
        <p:nvSpPr>
          <p:cNvPr id="24" name="goal-summary"/>
          <p:cNvSpPr>
            <a:spLocks noGrp="1"/>
          </p:cNvSpPr>
          <p:nvPr/>
        </p:nvSpPr>
        <p:spPr>
          <a:xfrm>
            <a:off x="9486900" y="4000500"/>
            <a:ext cx="773430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3231E"/>
                </a:solidFill>
              </a:defRPr>
            </a:pPr>
            <a:r>
              <a:rPr sz="1875" b="1">
                <a:solidFill>
                  <a:srgbClr val="13231E"/>
                </a:solidFill>
              </a:rPr>
              <a:t>最终形成“统一认证 + 全链路追溯 + 监管闭环 + 智能辅助”的一体化平台，服务管理员、监管人员、企业、医疗机构与公众用户。</a:t>
            </a:r>
            <a:endParaRPr sz="1875" b="1">
              <a:solidFill>
                <a:srgbClr val="13231E"/>
              </a:solidFill>
            </a:endParaRPr>
          </a:p>
        </p:txBody>
      </p:sp>
      <p:sp>
        <p:nvSpPr>
          <p:cNvPr id="25" name="footer"/>
          <p:cNvSpPr>
            <a:spLocks noGrp="1"/>
          </p:cNvSpPr>
          <p:nvPr/>
        </p:nvSpPr>
        <p:spPr>
          <a:xfrm>
            <a:off x="1066800" y="9410700"/>
            <a:ext cx="16154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B8B86"/>
                </a:solidFill>
              </a:defRPr>
            </a:pPr>
            <a:r>
              <a:rPr sz="1050">
                <a:solidFill>
                  <a:srgbClr val="7B8B86"/>
                </a:solidFill>
              </a:rPr>
              <a:t>计算机221-25号 余梓杰 | 基于 Spring Boot 的药品追溯监管系统</a:t>
            </a:r>
            <a:endParaRPr sz="1050">
              <a:solidFill>
                <a:srgbClr val="7B8B8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nvas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8"/>
          </a:solidFill>
        </p:spPr>
      </p:sp>
      <p:sp>
        <p:nvSpPr>
          <p:cNvPr id="3" name="top-rule"/>
          <p:cNvSpPr>
            <a:spLocks noGrp="1"/>
          </p:cNvSpPr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1F7A5A"/>
          </a:solidFill>
        </p:spPr>
      </p:sp>
      <p:sp>
        <p:nvSpPr>
          <p:cNvPr id="4" name="slide-title"/>
          <p:cNvSpPr>
            <a:spLocks noGrp="1"/>
          </p:cNvSpPr>
          <p:nvPr/>
        </p:nvSpPr>
        <p:spPr>
          <a:xfrm>
            <a:off x="952500" y="666750"/>
            <a:ext cx="8769985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3231E"/>
                </a:solidFill>
              </a:defRPr>
            </a:pPr>
            <a:r>
              <a:rPr sz="3750" b="1">
                <a:solidFill>
                  <a:srgbClr val="13231E"/>
                </a:solidFill>
              </a:rPr>
              <a:t>系统架构：Web + App + Spring Boot 服务</a:t>
            </a:r>
            <a:endParaRPr sz="3750" b="1">
              <a:solidFill>
                <a:srgbClr val="13231E"/>
              </a:solidFill>
            </a:endParaRPr>
          </a:p>
        </p:txBody>
      </p:sp>
      <p:sp>
        <p:nvSpPr>
          <p:cNvPr id="5" name="slide-subtitle"/>
          <p:cNvSpPr>
            <a:spLocks noGrp="1"/>
          </p:cNvSpPr>
          <p:nvPr/>
        </p:nvSpPr>
        <p:spPr>
          <a:xfrm>
            <a:off x="952500" y="1943100"/>
            <a:ext cx="777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C6F68"/>
                </a:solidFill>
              </a:defRPr>
            </a:pPr>
            <a:r>
              <a:rPr sz="1800">
                <a:solidFill>
                  <a:srgbClr val="5C6F68"/>
                </a:solidFill>
              </a:rPr>
              <a:t>论文内容被拆解为四层可讲元素：终端、接口、业务服务、数据与智能支撑。</a:t>
            </a:r>
            <a:endParaRPr sz="1800">
              <a:solidFill>
                <a:srgbClr val="5C6F68"/>
              </a:solidFill>
            </a:endParaRPr>
          </a:p>
        </p:txBody>
      </p:sp>
      <p:sp>
        <p:nvSpPr>
          <p:cNvPr id="6" name="node-Vue Web 管理端"/>
          <p:cNvSpPr>
            <a:spLocks noGrp="1"/>
          </p:cNvSpPr>
          <p:nvPr/>
        </p:nvSpPr>
        <p:spPr>
          <a:xfrm>
            <a:off x="952500" y="2522220"/>
            <a:ext cx="28575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7" name="node-text-Vue Web 管理端"/>
          <p:cNvSpPr>
            <a:spLocks noGrp="1"/>
          </p:cNvSpPr>
          <p:nvPr/>
        </p:nvSpPr>
        <p:spPr>
          <a:xfrm>
            <a:off x="1104900" y="2647950"/>
            <a:ext cx="2552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563A8"/>
                </a:solidFill>
              </a:defRPr>
            </a:pPr>
            <a:r>
              <a:rPr sz="1650" b="1">
                <a:solidFill>
                  <a:srgbClr val="2563A8"/>
                </a:solidFill>
              </a:rPr>
              <a:t>Vue Web 管理端</a:t>
            </a:r>
            <a:endParaRPr sz="1650" b="1">
              <a:solidFill>
                <a:srgbClr val="2563A8"/>
              </a:solidFill>
            </a:endParaRPr>
          </a:p>
        </p:txBody>
      </p:sp>
      <p:sp>
        <p:nvSpPr>
          <p:cNvPr id="8" name="node-Flutter 移动端"/>
          <p:cNvSpPr>
            <a:spLocks noGrp="1"/>
          </p:cNvSpPr>
          <p:nvPr/>
        </p:nvSpPr>
        <p:spPr>
          <a:xfrm>
            <a:off x="4038600" y="2522220"/>
            <a:ext cx="28575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9" name="node-text-Flutter 移动端"/>
          <p:cNvSpPr>
            <a:spLocks noGrp="1"/>
          </p:cNvSpPr>
          <p:nvPr/>
        </p:nvSpPr>
        <p:spPr>
          <a:xfrm>
            <a:off x="4191000" y="2647950"/>
            <a:ext cx="2552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F9AA0"/>
                </a:solidFill>
              </a:defRPr>
            </a:pPr>
            <a:r>
              <a:rPr sz="1650" b="1">
                <a:solidFill>
                  <a:srgbClr val="1F9AA0"/>
                </a:solidFill>
              </a:rPr>
              <a:t>Flutter 移动端</a:t>
            </a:r>
            <a:endParaRPr sz="1650" b="1">
              <a:solidFill>
                <a:srgbClr val="1F9AA0"/>
              </a:solidFill>
            </a:endParaRPr>
          </a:p>
        </p:txBody>
      </p:sp>
      <p:sp>
        <p:nvSpPr>
          <p:cNvPr id="10" name="client-note"/>
          <p:cNvSpPr>
            <a:spLocks noGrp="1"/>
          </p:cNvSpPr>
          <p:nvPr/>
        </p:nvSpPr>
        <p:spPr>
          <a:xfrm>
            <a:off x="7124700" y="2514600"/>
            <a:ext cx="10210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3231E"/>
                </a:solidFill>
              </a:defRPr>
            </a:pPr>
            <a:r>
              <a:rPr sz="1800" b="1">
                <a:solidFill>
                  <a:srgbClr val="13231E"/>
                </a:solidFill>
              </a:rPr>
              <a:t>多角色入口：管理员 / 监管 / 企业 / 机构 / 公众</a:t>
            </a:r>
            <a:endParaRPr sz="1800" b="1">
              <a:solidFill>
                <a:srgbClr val="13231E"/>
              </a:solidFill>
            </a:endParaRPr>
          </a:p>
        </p:txBody>
      </p:sp>
      <p:sp>
        <p:nvSpPr>
          <p:cNvPr id="11" name="node-统一 API"/>
          <p:cNvSpPr>
            <a:spLocks noGrp="1"/>
          </p:cNvSpPr>
          <p:nvPr/>
        </p:nvSpPr>
        <p:spPr>
          <a:xfrm>
            <a:off x="952500" y="4223385"/>
            <a:ext cx="24765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12" name="node-text-统一 API"/>
          <p:cNvSpPr>
            <a:spLocks noGrp="1"/>
          </p:cNvSpPr>
          <p:nvPr/>
        </p:nvSpPr>
        <p:spPr>
          <a:xfrm>
            <a:off x="1104900" y="4362450"/>
            <a:ext cx="2171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F7A5A"/>
                </a:solidFill>
              </a:defRPr>
            </a:pPr>
            <a:r>
              <a:rPr sz="1650" b="1">
                <a:solidFill>
                  <a:srgbClr val="1F7A5A"/>
                </a:solidFill>
              </a:rPr>
              <a:t>统一 API</a:t>
            </a:r>
            <a:endParaRPr sz="1650" b="1">
              <a:solidFill>
                <a:srgbClr val="1F7A5A"/>
              </a:solidFill>
            </a:endParaRPr>
          </a:p>
        </p:txBody>
      </p:sp>
      <p:sp>
        <p:nvSpPr>
          <p:cNvPr id="13" name="node-JWT + RBAC"/>
          <p:cNvSpPr>
            <a:spLocks noGrp="1"/>
          </p:cNvSpPr>
          <p:nvPr/>
        </p:nvSpPr>
        <p:spPr>
          <a:xfrm>
            <a:off x="3657600" y="4223385"/>
            <a:ext cx="24765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14" name="node-text-JWT + RBAC"/>
          <p:cNvSpPr>
            <a:spLocks noGrp="1"/>
          </p:cNvSpPr>
          <p:nvPr/>
        </p:nvSpPr>
        <p:spPr>
          <a:xfrm>
            <a:off x="3810000" y="4362450"/>
            <a:ext cx="2171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F7A5A"/>
                </a:solidFill>
              </a:defRPr>
            </a:pPr>
            <a:r>
              <a:rPr sz="1650" b="1">
                <a:solidFill>
                  <a:srgbClr val="1F7A5A"/>
                </a:solidFill>
              </a:rPr>
              <a:t>JWT + RBAC</a:t>
            </a:r>
            <a:endParaRPr sz="1650" b="1">
              <a:solidFill>
                <a:srgbClr val="1F7A5A"/>
              </a:solidFill>
            </a:endParaRPr>
          </a:p>
        </p:txBody>
      </p:sp>
      <p:sp>
        <p:nvSpPr>
          <p:cNvPr id="15" name="api-note"/>
          <p:cNvSpPr>
            <a:spLocks noGrp="1"/>
          </p:cNvSpPr>
          <p:nvPr/>
        </p:nvSpPr>
        <p:spPr>
          <a:xfrm>
            <a:off x="6362700" y="4229100"/>
            <a:ext cx="10972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3231E"/>
                </a:solidFill>
              </a:defRPr>
            </a:pPr>
            <a:r>
              <a:rPr sz="1800" b="1">
                <a:solidFill>
                  <a:srgbClr val="13231E"/>
                </a:solidFill>
              </a:rPr>
              <a:t>前端控制体验，后端拦截器完成真正授权校验</a:t>
            </a:r>
            <a:endParaRPr sz="1800" b="1">
              <a:solidFill>
                <a:srgbClr val="13231E"/>
              </a:solidFill>
            </a:endParaRPr>
          </a:p>
        </p:txBody>
      </p:sp>
      <p:sp>
        <p:nvSpPr>
          <p:cNvPr id="16" name="node-药品主数据"/>
          <p:cNvSpPr>
            <a:spLocks noGrp="1"/>
          </p:cNvSpPr>
          <p:nvPr/>
        </p:nvSpPr>
        <p:spPr>
          <a:xfrm>
            <a:off x="952500" y="5924550"/>
            <a:ext cx="20955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17" name="node-text-药品主数据"/>
          <p:cNvSpPr>
            <a:spLocks noGrp="1"/>
          </p:cNvSpPr>
          <p:nvPr/>
        </p:nvSpPr>
        <p:spPr>
          <a:xfrm>
            <a:off x="1104900" y="6057900"/>
            <a:ext cx="1790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563A8"/>
                </a:solidFill>
              </a:defRPr>
            </a:pPr>
            <a:r>
              <a:rPr sz="1650" b="1">
                <a:solidFill>
                  <a:srgbClr val="2563A8"/>
                </a:solidFill>
              </a:rPr>
              <a:t>药品主数据</a:t>
            </a:r>
            <a:endParaRPr sz="1650" b="1">
              <a:solidFill>
                <a:srgbClr val="2563A8"/>
              </a:solidFill>
            </a:endParaRPr>
          </a:p>
        </p:txBody>
      </p:sp>
      <p:sp>
        <p:nvSpPr>
          <p:cNvPr id="18" name="node-生产批次"/>
          <p:cNvSpPr>
            <a:spLocks noGrp="1"/>
          </p:cNvSpPr>
          <p:nvPr/>
        </p:nvSpPr>
        <p:spPr>
          <a:xfrm>
            <a:off x="3219450" y="5924550"/>
            <a:ext cx="20955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19" name="node-text-生产批次"/>
          <p:cNvSpPr>
            <a:spLocks noGrp="1"/>
          </p:cNvSpPr>
          <p:nvPr/>
        </p:nvSpPr>
        <p:spPr>
          <a:xfrm>
            <a:off x="3371850" y="6057900"/>
            <a:ext cx="1790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563A8"/>
                </a:solidFill>
              </a:defRPr>
            </a:pPr>
            <a:r>
              <a:rPr sz="1650" b="1">
                <a:solidFill>
                  <a:srgbClr val="2563A8"/>
                </a:solidFill>
              </a:rPr>
              <a:t>生产批次</a:t>
            </a:r>
            <a:endParaRPr sz="1650" b="1">
              <a:solidFill>
                <a:srgbClr val="2563A8"/>
              </a:solidFill>
            </a:endParaRPr>
          </a:p>
        </p:txBody>
      </p:sp>
      <p:sp>
        <p:nvSpPr>
          <p:cNvPr id="20" name="node-采购销售库存"/>
          <p:cNvSpPr>
            <a:spLocks noGrp="1"/>
          </p:cNvSpPr>
          <p:nvPr/>
        </p:nvSpPr>
        <p:spPr>
          <a:xfrm>
            <a:off x="5486400" y="5924550"/>
            <a:ext cx="238125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21" name="node-text-采购销售库存"/>
          <p:cNvSpPr>
            <a:spLocks noGrp="1"/>
          </p:cNvSpPr>
          <p:nvPr/>
        </p:nvSpPr>
        <p:spPr>
          <a:xfrm>
            <a:off x="5638800" y="6057900"/>
            <a:ext cx="2076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563A8"/>
                </a:solidFill>
              </a:defRPr>
            </a:pPr>
            <a:r>
              <a:rPr sz="1650" b="1">
                <a:solidFill>
                  <a:srgbClr val="2563A8"/>
                </a:solidFill>
              </a:rPr>
              <a:t>采购销售库存</a:t>
            </a:r>
            <a:endParaRPr sz="1650" b="1">
              <a:solidFill>
                <a:srgbClr val="2563A8"/>
              </a:solidFill>
            </a:endParaRPr>
          </a:p>
        </p:txBody>
      </p:sp>
      <p:sp>
        <p:nvSpPr>
          <p:cNvPr id="22" name="node-监管任务"/>
          <p:cNvSpPr>
            <a:spLocks noGrp="1"/>
          </p:cNvSpPr>
          <p:nvPr/>
        </p:nvSpPr>
        <p:spPr>
          <a:xfrm>
            <a:off x="8039100" y="5924550"/>
            <a:ext cx="20955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23" name="node-text-监管任务"/>
          <p:cNvSpPr>
            <a:spLocks noGrp="1"/>
          </p:cNvSpPr>
          <p:nvPr/>
        </p:nvSpPr>
        <p:spPr>
          <a:xfrm>
            <a:off x="8191500" y="6057900"/>
            <a:ext cx="1790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8912B"/>
                </a:solidFill>
              </a:defRPr>
            </a:pPr>
            <a:r>
              <a:rPr sz="1650" b="1">
                <a:solidFill>
                  <a:srgbClr val="D8912B"/>
                </a:solidFill>
              </a:rPr>
              <a:t>监管任务</a:t>
            </a:r>
            <a:endParaRPr sz="1650" b="1">
              <a:solidFill>
                <a:srgbClr val="D8912B"/>
              </a:solidFill>
            </a:endParaRPr>
          </a:p>
        </p:txBody>
      </p:sp>
      <p:sp>
        <p:nvSpPr>
          <p:cNvPr id="24" name="node-AI 助手"/>
          <p:cNvSpPr>
            <a:spLocks noGrp="1"/>
          </p:cNvSpPr>
          <p:nvPr/>
        </p:nvSpPr>
        <p:spPr>
          <a:xfrm>
            <a:off x="10306050" y="5924550"/>
            <a:ext cx="19050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25" name="node-text-AI 助手"/>
          <p:cNvSpPr>
            <a:spLocks noGrp="1"/>
          </p:cNvSpPr>
          <p:nvPr/>
        </p:nvSpPr>
        <p:spPr>
          <a:xfrm>
            <a:off x="10458450" y="6057900"/>
            <a:ext cx="1600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F9AA0"/>
                </a:solidFill>
              </a:defRPr>
            </a:pPr>
            <a:r>
              <a:rPr sz="1650" b="1">
                <a:solidFill>
                  <a:srgbClr val="1F9AA0"/>
                </a:solidFill>
              </a:rPr>
              <a:t>AI 助手</a:t>
            </a:r>
            <a:endParaRPr sz="1650" b="1">
              <a:solidFill>
                <a:srgbClr val="1F9AA0"/>
              </a:solidFill>
            </a:endParaRPr>
          </a:p>
        </p:txBody>
      </p:sp>
      <p:sp>
        <p:nvSpPr>
          <p:cNvPr id="26" name="node-MySQL"/>
          <p:cNvSpPr>
            <a:spLocks noGrp="1"/>
          </p:cNvSpPr>
          <p:nvPr/>
        </p:nvSpPr>
        <p:spPr>
          <a:xfrm>
            <a:off x="952500" y="7625715"/>
            <a:ext cx="180975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27" name="node-text-MySQL"/>
          <p:cNvSpPr>
            <a:spLocks noGrp="1"/>
          </p:cNvSpPr>
          <p:nvPr/>
        </p:nvSpPr>
        <p:spPr>
          <a:xfrm>
            <a:off x="1104900" y="7753350"/>
            <a:ext cx="1504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E2A25"/>
                </a:solidFill>
              </a:defRPr>
            </a:pPr>
            <a:r>
              <a:rPr sz="1650" b="1">
                <a:solidFill>
                  <a:srgbClr val="0E2A25"/>
                </a:solidFill>
              </a:rPr>
              <a:t>MySQL</a:t>
            </a:r>
            <a:endParaRPr sz="1650" b="1">
              <a:solidFill>
                <a:srgbClr val="0E2A25"/>
              </a:solidFill>
            </a:endParaRPr>
          </a:p>
        </p:txBody>
      </p:sp>
      <p:sp>
        <p:nvSpPr>
          <p:cNvPr id="28" name="node-Redis"/>
          <p:cNvSpPr>
            <a:spLocks noGrp="1"/>
          </p:cNvSpPr>
          <p:nvPr/>
        </p:nvSpPr>
        <p:spPr>
          <a:xfrm>
            <a:off x="2990850" y="7625715"/>
            <a:ext cx="180975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29" name="node-text-Redis"/>
          <p:cNvSpPr>
            <a:spLocks noGrp="1"/>
          </p:cNvSpPr>
          <p:nvPr/>
        </p:nvSpPr>
        <p:spPr>
          <a:xfrm>
            <a:off x="3143250" y="7753350"/>
            <a:ext cx="1504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E2A25"/>
                </a:solidFill>
              </a:defRPr>
            </a:pPr>
            <a:r>
              <a:rPr sz="1650" b="1">
                <a:solidFill>
                  <a:srgbClr val="0E2A25"/>
                </a:solidFill>
              </a:rPr>
              <a:t>Redis</a:t>
            </a:r>
            <a:endParaRPr sz="1650" b="1">
              <a:solidFill>
                <a:srgbClr val="0E2A25"/>
              </a:solidFill>
            </a:endParaRPr>
          </a:p>
        </p:txBody>
      </p:sp>
      <p:sp>
        <p:nvSpPr>
          <p:cNvPr id="30" name="node-审计日志"/>
          <p:cNvSpPr>
            <a:spLocks noGrp="1"/>
          </p:cNvSpPr>
          <p:nvPr/>
        </p:nvSpPr>
        <p:spPr>
          <a:xfrm>
            <a:off x="5029200" y="7625715"/>
            <a:ext cx="20955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31" name="node-text-审计日志"/>
          <p:cNvSpPr>
            <a:spLocks noGrp="1"/>
          </p:cNvSpPr>
          <p:nvPr/>
        </p:nvSpPr>
        <p:spPr>
          <a:xfrm>
            <a:off x="5181600" y="7753350"/>
            <a:ext cx="1790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E2A25"/>
                </a:solidFill>
              </a:defRPr>
            </a:pPr>
            <a:r>
              <a:rPr sz="1650" b="1">
                <a:solidFill>
                  <a:srgbClr val="0E2A25"/>
                </a:solidFill>
              </a:rPr>
              <a:t>审计日志</a:t>
            </a:r>
            <a:endParaRPr sz="1650" b="1">
              <a:solidFill>
                <a:srgbClr val="0E2A25"/>
              </a:solidFill>
            </a:endParaRPr>
          </a:p>
        </p:txBody>
      </p:sp>
      <p:sp>
        <p:nvSpPr>
          <p:cNvPr id="32" name="data-note"/>
          <p:cNvSpPr>
            <a:spLocks noGrp="1"/>
          </p:cNvSpPr>
          <p:nvPr/>
        </p:nvSpPr>
        <p:spPr>
          <a:xfrm>
            <a:off x="7353300" y="7620000"/>
            <a:ext cx="9982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3231E"/>
                </a:solidFill>
              </a:defRPr>
            </a:pPr>
            <a:r>
              <a:rPr sz="1800" b="1">
                <a:solidFill>
                  <a:srgbClr val="13231E"/>
                </a:solidFill>
              </a:rPr>
              <a:t>数据一致性、会话状态、操作留痕共同支撑监管可信度</a:t>
            </a:r>
            <a:endParaRPr sz="1800" b="1">
              <a:solidFill>
                <a:srgbClr val="13231E"/>
              </a:solidFill>
            </a:endParaRPr>
          </a:p>
        </p:txBody>
      </p:sp>
      <p:sp>
        <p:nvSpPr>
          <p:cNvPr id="33" name="footer"/>
          <p:cNvSpPr>
            <a:spLocks noGrp="1"/>
          </p:cNvSpPr>
          <p:nvPr/>
        </p:nvSpPr>
        <p:spPr>
          <a:xfrm>
            <a:off x="952500" y="9467850"/>
            <a:ext cx="16383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B8B86"/>
                </a:solidFill>
              </a:defRPr>
            </a:pPr>
            <a:r>
              <a:rPr sz="1050">
                <a:solidFill>
                  <a:srgbClr val="7B8B86"/>
                </a:solidFill>
              </a:rPr>
              <a:t>计算机221-25号 余梓杰 | 基于 Spring Boot 的药品追溯监管系统</a:t>
            </a:r>
            <a:endParaRPr sz="1050">
              <a:solidFill>
                <a:srgbClr val="7B8B8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nvas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8"/>
          </a:solidFill>
        </p:spPr>
      </p:sp>
      <p:sp>
        <p:nvSpPr>
          <p:cNvPr id="3" name="top-rule"/>
          <p:cNvSpPr>
            <a:spLocks noGrp="1"/>
          </p:cNvSpPr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1F7A5A"/>
          </a:solidFill>
        </p:spPr>
      </p:sp>
      <p:sp>
        <p:nvSpPr>
          <p:cNvPr id="4" name="slide-title"/>
          <p:cNvSpPr>
            <a:spLocks noGrp="1"/>
          </p:cNvSpPr>
          <p:nvPr/>
        </p:nvSpPr>
        <p:spPr>
          <a:xfrm>
            <a:off x="876300" y="666750"/>
            <a:ext cx="8960485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3231E"/>
                </a:solidFill>
              </a:defRPr>
            </a:pPr>
            <a:r>
              <a:rPr sz="3750" b="1">
                <a:solidFill>
                  <a:srgbClr val="13231E"/>
                </a:solidFill>
              </a:rPr>
              <a:t>核心业务：一条追溯主链 + 一个监管闭环</a:t>
            </a:r>
            <a:endParaRPr sz="3750" b="1">
              <a:solidFill>
                <a:srgbClr val="13231E"/>
              </a:solidFill>
            </a:endParaRPr>
          </a:p>
        </p:txBody>
      </p:sp>
      <p:sp>
        <p:nvSpPr>
          <p:cNvPr id="5" name="slide-subtitle"/>
          <p:cNvSpPr>
            <a:spLocks noGrp="1"/>
          </p:cNvSpPr>
          <p:nvPr/>
        </p:nvSpPr>
        <p:spPr>
          <a:xfrm>
            <a:off x="876300" y="1371600"/>
            <a:ext cx="69913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C6F68"/>
                </a:solidFill>
              </a:defRPr>
            </a:pPr>
            <a:r>
              <a:rPr sz="1800">
                <a:solidFill>
                  <a:srgbClr val="5C6F68"/>
                </a:solidFill>
              </a:rPr>
              <a:t>讲解重点：系统不是单表 CRUD，而是围绕批次和线索组织业务流转。</a:t>
            </a:r>
            <a:endParaRPr sz="1800">
              <a:solidFill>
                <a:srgbClr val="5C6F68"/>
              </a:solidFill>
            </a:endParaRPr>
          </a:p>
        </p:txBody>
      </p:sp>
      <p:sp>
        <p:nvSpPr>
          <p:cNvPr id="6" name="trace-heading"/>
          <p:cNvSpPr>
            <a:spLocks noGrp="1"/>
          </p:cNvSpPr>
          <p:nvPr/>
        </p:nvSpPr>
        <p:spPr>
          <a:xfrm>
            <a:off x="876300" y="2247900"/>
            <a:ext cx="16535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2563A8"/>
                </a:solidFill>
              </a:defRPr>
            </a:pPr>
            <a:r>
              <a:rPr sz="2100" b="1">
                <a:solidFill>
                  <a:srgbClr val="2563A8"/>
                </a:solidFill>
              </a:rPr>
              <a:t>药品追溯主链</a:t>
            </a:r>
            <a:endParaRPr sz="2100" b="1">
              <a:solidFill>
                <a:srgbClr val="2563A8"/>
              </a:solidFill>
            </a:endParaRPr>
          </a:p>
        </p:txBody>
      </p:sp>
      <p:sp>
        <p:nvSpPr>
          <p:cNvPr id="7" name="node-药品主数据"/>
          <p:cNvSpPr>
            <a:spLocks noGrp="1"/>
          </p:cNvSpPr>
          <p:nvPr/>
        </p:nvSpPr>
        <p:spPr>
          <a:xfrm>
            <a:off x="876300" y="2735580"/>
            <a:ext cx="20955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8" name="node-text-药品主数据"/>
          <p:cNvSpPr>
            <a:spLocks noGrp="1"/>
          </p:cNvSpPr>
          <p:nvPr/>
        </p:nvSpPr>
        <p:spPr>
          <a:xfrm>
            <a:off x="1028700" y="2876550"/>
            <a:ext cx="1790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563A8"/>
                </a:solidFill>
              </a:defRPr>
            </a:pPr>
            <a:r>
              <a:rPr sz="1650" b="1">
                <a:solidFill>
                  <a:srgbClr val="2563A8"/>
                </a:solidFill>
              </a:rPr>
              <a:t>药品主数据</a:t>
            </a:r>
            <a:endParaRPr sz="1650" b="1">
              <a:solidFill>
                <a:srgbClr val="2563A8"/>
              </a:solidFill>
            </a:endParaRPr>
          </a:p>
        </p:txBody>
      </p:sp>
      <p:sp>
        <p:nvSpPr>
          <p:cNvPr id="9" name="arrow-symbol-drug_id"/>
          <p:cNvSpPr>
            <a:spLocks noGrp="1"/>
          </p:cNvSpPr>
          <p:nvPr/>
        </p:nvSpPr>
        <p:spPr>
          <a:xfrm>
            <a:off x="3067050" y="2743200"/>
            <a:ext cx="8763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5C6F68"/>
                </a:solidFill>
              </a:defRPr>
            </a:pPr>
            <a:r>
              <a:rPr sz="3150" b="1">
                <a:solidFill>
                  <a:srgbClr val="5C6F68"/>
                </a:solidFill>
              </a:rPr>
              <a:t>→</a:t>
            </a:r>
            <a:endParaRPr sz="3150" b="1">
              <a:solidFill>
                <a:srgbClr val="5C6F68"/>
              </a:solidFill>
            </a:endParaRPr>
          </a:p>
        </p:txBody>
      </p:sp>
      <p:sp>
        <p:nvSpPr>
          <p:cNvPr id="10" name="arrow-label-drug_id"/>
          <p:cNvSpPr>
            <a:spLocks noGrp="1"/>
          </p:cNvSpPr>
          <p:nvPr/>
        </p:nvSpPr>
        <p:spPr>
          <a:xfrm>
            <a:off x="3067050" y="3257550"/>
            <a:ext cx="8763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5C6F68"/>
                </a:solidFill>
              </a:defRPr>
            </a:pPr>
            <a:r>
              <a:rPr sz="900">
                <a:solidFill>
                  <a:srgbClr val="5C6F68"/>
                </a:solidFill>
              </a:rPr>
              <a:t>drug_id</a:t>
            </a:r>
            <a:endParaRPr sz="900">
              <a:solidFill>
                <a:srgbClr val="5C6F68"/>
              </a:solidFill>
            </a:endParaRPr>
          </a:p>
        </p:txBody>
      </p:sp>
      <p:sp>
        <p:nvSpPr>
          <p:cNvPr id="11" name="node-生产批次"/>
          <p:cNvSpPr>
            <a:spLocks noGrp="1"/>
          </p:cNvSpPr>
          <p:nvPr/>
        </p:nvSpPr>
        <p:spPr>
          <a:xfrm>
            <a:off x="4038600" y="2735580"/>
            <a:ext cx="20955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12" name="node-text-生产批次"/>
          <p:cNvSpPr>
            <a:spLocks noGrp="1"/>
          </p:cNvSpPr>
          <p:nvPr/>
        </p:nvSpPr>
        <p:spPr>
          <a:xfrm>
            <a:off x="4191000" y="2876550"/>
            <a:ext cx="1790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563A8"/>
                </a:solidFill>
              </a:defRPr>
            </a:pPr>
            <a:r>
              <a:rPr sz="1650" b="1">
                <a:solidFill>
                  <a:srgbClr val="2563A8"/>
                </a:solidFill>
              </a:rPr>
              <a:t>生产批次</a:t>
            </a:r>
            <a:endParaRPr sz="1650" b="1">
              <a:solidFill>
                <a:srgbClr val="2563A8"/>
              </a:solidFill>
            </a:endParaRPr>
          </a:p>
        </p:txBody>
      </p:sp>
      <p:sp>
        <p:nvSpPr>
          <p:cNvPr id="13" name="arrow-symbol-batch_id"/>
          <p:cNvSpPr>
            <a:spLocks noGrp="1"/>
          </p:cNvSpPr>
          <p:nvPr/>
        </p:nvSpPr>
        <p:spPr>
          <a:xfrm>
            <a:off x="6229350" y="2743200"/>
            <a:ext cx="8763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5C6F68"/>
                </a:solidFill>
              </a:defRPr>
            </a:pPr>
            <a:r>
              <a:rPr sz="3150" b="1">
                <a:solidFill>
                  <a:srgbClr val="5C6F68"/>
                </a:solidFill>
              </a:rPr>
              <a:t>→</a:t>
            </a:r>
            <a:endParaRPr sz="3150" b="1">
              <a:solidFill>
                <a:srgbClr val="5C6F68"/>
              </a:solidFill>
            </a:endParaRPr>
          </a:p>
        </p:txBody>
      </p:sp>
      <p:sp>
        <p:nvSpPr>
          <p:cNvPr id="14" name="arrow-label-batch_id"/>
          <p:cNvSpPr>
            <a:spLocks noGrp="1"/>
          </p:cNvSpPr>
          <p:nvPr/>
        </p:nvSpPr>
        <p:spPr>
          <a:xfrm>
            <a:off x="6229350" y="3257550"/>
            <a:ext cx="8763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5C6F68"/>
                </a:solidFill>
              </a:defRPr>
            </a:pPr>
            <a:r>
              <a:rPr sz="900">
                <a:solidFill>
                  <a:srgbClr val="5C6F68"/>
                </a:solidFill>
              </a:rPr>
              <a:t>batch_id</a:t>
            </a:r>
            <a:endParaRPr sz="900">
              <a:solidFill>
                <a:srgbClr val="5C6F68"/>
              </a:solidFill>
            </a:endParaRPr>
          </a:p>
        </p:txBody>
      </p:sp>
      <p:sp>
        <p:nvSpPr>
          <p:cNvPr id="15" name="node-采购记录"/>
          <p:cNvSpPr>
            <a:spLocks noGrp="1"/>
          </p:cNvSpPr>
          <p:nvPr/>
        </p:nvSpPr>
        <p:spPr>
          <a:xfrm>
            <a:off x="7200900" y="2735580"/>
            <a:ext cx="20955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16" name="node-text-采购记录"/>
          <p:cNvSpPr>
            <a:spLocks noGrp="1"/>
          </p:cNvSpPr>
          <p:nvPr/>
        </p:nvSpPr>
        <p:spPr>
          <a:xfrm>
            <a:off x="7353300" y="2876550"/>
            <a:ext cx="1790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563A8"/>
                </a:solidFill>
              </a:defRPr>
            </a:pPr>
            <a:r>
              <a:rPr sz="1650" b="1">
                <a:solidFill>
                  <a:srgbClr val="2563A8"/>
                </a:solidFill>
              </a:rPr>
              <a:t>采购记录</a:t>
            </a:r>
            <a:endParaRPr sz="1650" b="1">
              <a:solidFill>
                <a:srgbClr val="2563A8"/>
              </a:solidFill>
            </a:endParaRPr>
          </a:p>
        </p:txBody>
      </p:sp>
      <p:sp>
        <p:nvSpPr>
          <p:cNvPr id="17" name="arrow-symbol-batch_id"/>
          <p:cNvSpPr>
            <a:spLocks noGrp="1"/>
          </p:cNvSpPr>
          <p:nvPr/>
        </p:nvSpPr>
        <p:spPr>
          <a:xfrm>
            <a:off x="9391650" y="2743200"/>
            <a:ext cx="8763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5C6F68"/>
                </a:solidFill>
              </a:defRPr>
            </a:pPr>
            <a:r>
              <a:rPr sz="3150" b="1">
                <a:solidFill>
                  <a:srgbClr val="5C6F68"/>
                </a:solidFill>
              </a:rPr>
              <a:t>→</a:t>
            </a:r>
            <a:endParaRPr sz="3150" b="1">
              <a:solidFill>
                <a:srgbClr val="5C6F68"/>
              </a:solidFill>
            </a:endParaRPr>
          </a:p>
        </p:txBody>
      </p:sp>
      <p:sp>
        <p:nvSpPr>
          <p:cNvPr id="18" name="arrow-label-batch_id"/>
          <p:cNvSpPr>
            <a:spLocks noGrp="1"/>
          </p:cNvSpPr>
          <p:nvPr/>
        </p:nvSpPr>
        <p:spPr>
          <a:xfrm>
            <a:off x="9391650" y="3257550"/>
            <a:ext cx="8763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5C6F68"/>
                </a:solidFill>
              </a:defRPr>
            </a:pPr>
            <a:r>
              <a:rPr sz="900">
                <a:solidFill>
                  <a:srgbClr val="5C6F68"/>
                </a:solidFill>
              </a:rPr>
              <a:t>batch_id</a:t>
            </a:r>
            <a:endParaRPr sz="900">
              <a:solidFill>
                <a:srgbClr val="5C6F68"/>
              </a:solidFill>
            </a:endParaRPr>
          </a:p>
        </p:txBody>
      </p:sp>
      <p:sp>
        <p:nvSpPr>
          <p:cNvPr id="19" name="node-销售记录"/>
          <p:cNvSpPr>
            <a:spLocks noGrp="1"/>
          </p:cNvSpPr>
          <p:nvPr/>
        </p:nvSpPr>
        <p:spPr>
          <a:xfrm>
            <a:off x="10363200" y="2735580"/>
            <a:ext cx="20955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20" name="node-text-销售记录"/>
          <p:cNvSpPr>
            <a:spLocks noGrp="1"/>
          </p:cNvSpPr>
          <p:nvPr/>
        </p:nvSpPr>
        <p:spPr>
          <a:xfrm>
            <a:off x="10515600" y="2876550"/>
            <a:ext cx="1790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563A8"/>
                </a:solidFill>
              </a:defRPr>
            </a:pPr>
            <a:r>
              <a:rPr sz="1650" b="1">
                <a:solidFill>
                  <a:srgbClr val="2563A8"/>
                </a:solidFill>
              </a:rPr>
              <a:t>销售记录</a:t>
            </a:r>
            <a:endParaRPr sz="1650" b="1">
              <a:solidFill>
                <a:srgbClr val="2563A8"/>
              </a:solidFill>
            </a:endParaRPr>
          </a:p>
        </p:txBody>
      </p:sp>
      <p:sp>
        <p:nvSpPr>
          <p:cNvPr id="21" name="arrow-symbol-org+batch"/>
          <p:cNvSpPr>
            <a:spLocks noGrp="1"/>
          </p:cNvSpPr>
          <p:nvPr/>
        </p:nvSpPr>
        <p:spPr>
          <a:xfrm>
            <a:off x="12553950" y="2743200"/>
            <a:ext cx="8763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5C6F68"/>
                </a:solidFill>
              </a:defRPr>
            </a:pPr>
            <a:r>
              <a:rPr sz="3150" b="1">
                <a:solidFill>
                  <a:srgbClr val="5C6F68"/>
                </a:solidFill>
              </a:rPr>
              <a:t>→</a:t>
            </a:r>
            <a:endParaRPr sz="3150" b="1">
              <a:solidFill>
                <a:srgbClr val="5C6F68"/>
              </a:solidFill>
            </a:endParaRPr>
          </a:p>
        </p:txBody>
      </p:sp>
      <p:sp>
        <p:nvSpPr>
          <p:cNvPr id="22" name="arrow-label-org+batch"/>
          <p:cNvSpPr>
            <a:spLocks noGrp="1"/>
          </p:cNvSpPr>
          <p:nvPr/>
        </p:nvSpPr>
        <p:spPr>
          <a:xfrm>
            <a:off x="12553950" y="3257550"/>
            <a:ext cx="8763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5C6F68"/>
                </a:solidFill>
              </a:defRPr>
            </a:pPr>
            <a:r>
              <a:rPr sz="900">
                <a:solidFill>
                  <a:srgbClr val="5C6F68"/>
                </a:solidFill>
              </a:rPr>
              <a:t>org+batch</a:t>
            </a:r>
            <a:endParaRPr sz="900">
              <a:solidFill>
                <a:srgbClr val="5C6F68"/>
              </a:solidFill>
            </a:endParaRPr>
          </a:p>
        </p:txBody>
      </p:sp>
      <p:sp>
        <p:nvSpPr>
          <p:cNvPr id="23" name="node-库存台账"/>
          <p:cNvSpPr>
            <a:spLocks noGrp="1"/>
          </p:cNvSpPr>
          <p:nvPr/>
        </p:nvSpPr>
        <p:spPr>
          <a:xfrm>
            <a:off x="13525500" y="2735580"/>
            <a:ext cx="20955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24" name="node-text-库存台账"/>
          <p:cNvSpPr>
            <a:spLocks noGrp="1"/>
          </p:cNvSpPr>
          <p:nvPr/>
        </p:nvSpPr>
        <p:spPr>
          <a:xfrm>
            <a:off x="13677900" y="2876550"/>
            <a:ext cx="1790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563A8"/>
                </a:solidFill>
              </a:defRPr>
            </a:pPr>
            <a:r>
              <a:rPr sz="1650" b="1">
                <a:solidFill>
                  <a:srgbClr val="2563A8"/>
                </a:solidFill>
              </a:rPr>
              <a:t>库存台账</a:t>
            </a:r>
            <a:endParaRPr sz="1650" b="1">
              <a:solidFill>
                <a:srgbClr val="2563A8"/>
              </a:solidFill>
            </a:endParaRPr>
          </a:p>
        </p:txBody>
      </p:sp>
      <p:sp>
        <p:nvSpPr>
          <p:cNvPr id="25" name="loop-heading"/>
          <p:cNvSpPr>
            <a:spLocks noGrp="1"/>
          </p:cNvSpPr>
          <p:nvPr/>
        </p:nvSpPr>
        <p:spPr>
          <a:xfrm>
            <a:off x="876300" y="3943350"/>
            <a:ext cx="16535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D8912B"/>
                </a:solidFill>
              </a:defRPr>
            </a:pPr>
            <a:r>
              <a:rPr sz="2100" b="1">
                <a:solidFill>
                  <a:srgbClr val="D8912B"/>
                </a:solidFill>
              </a:rPr>
              <a:t>监管处置闭环</a:t>
            </a:r>
            <a:endParaRPr sz="2100" b="1">
              <a:solidFill>
                <a:srgbClr val="D8912B"/>
              </a:solidFill>
            </a:endParaRPr>
          </a:p>
        </p:txBody>
      </p:sp>
      <p:sp>
        <p:nvSpPr>
          <p:cNvPr id="26" name="node-公众举报"/>
          <p:cNvSpPr>
            <a:spLocks noGrp="1"/>
          </p:cNvSpPr>
          <p:nvPr/>
        </p:nvSpPr>
        <p:spPr>
          <a:xfrm>
            <a:off x="876300" y="4427220"/>
            <a:ext cx="20955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27" name="node-text-公众举报"/>
          <p:cNvSpPr>
            <a:spLocks noGrp="1"/>
          </p:cNvSpPr>
          <p:nvPr/>
        </p:nvSpPr>
        <p:spPr>
          <a:xfrm>
            <a:off x="1028700" y="4552950"/>
            <a:ext cx="1790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8912B"/>
                </a:solidFill>
              </a:defRPr>
            </a:pPr>
            <a:r>
              <a:rPr sz="1650" b="1">
                <a:solidFill>
                  <a:srgbClr val="D8912B"/>
                </a:solidFill>
              </a:rPr>
              <a:t>公众举报</a:t>
            </a:r>
            <a:endParaRPr sz="1650" b="1">
              <a:solidFill>
                <a:srgbClr val="D8912B"/>
              </a:solidFill>
            </a:endParaRPr>
          </a:p>
        </p:txBody>
      </p:sp>
      <p:sp>
        <p:nvSpPr>
          <p:cNvPr id="28" name="arrow-symbol-线索"/>
          <p:cNvSpPr>
            <a:spLocks noGrp="1"/>
          </p:cNvSpPr>
          <p:nvPr/>
        </p:nvSpPr>
        <p:spPr>
          <a:xfrm>
            <a:off x="3067050" y="4419600"/>
            <a:ext cx="8763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5C6F68"/>
                </a:solidFill>
              </a:defRPr>
            </a:pPr>
            <a:r>
              <a:rPr sz="3150" b="1">
                <a:solidFill>
                  <a:srgbClr val="5C6F68"/>
                </a:solidFill>
              </a:rPr>
              <a:t>→</a:t>
            </a:r>
            <a:endParaRPr sz="3150" b="1">
              <a:solidFill>
                <a:srgbClr val="5C6F68"/>
              </a:solidFill>
            </a:endParaRPr>
          </a:p>
        </p:txBody>
      </p:sp>
      <p:sp>
        <p:nvSpPr>
          <p:cNvPr id="29" name="arrow-label-线索"/>
          <p:cNvSpPr>
            <a:spLocks noGrp="1"/>
          </p:cNvSpPr>
          <p:nvPr/>
        </p:nvSpPr>
        <p:spPr>
          <a:xfrm>
            <a:off x="3067050" y="4953000"/>
            <a:ext cx="8763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5C6F68"/>
                </a:solidFill>
              </a:defRPr>
            </a:pPr>
            <a:r>
              <a:rPr sz="900">
                <a:solidFill>
                  <a:srgbClr val="5C6F68"/>
                </a:solidFill>
              </a:rPr>
              <a:t>线索</a:t>
            </a:r>
            <a:endParaRPr sz="900">
              <a:solidFill>
                <a:srgbClr val="5C6F68"/>
              </a:solidFill>
            </a:endParaRPr>
          </a:p>
        </p:txBody>
      </p:sp>
      <p:sp>
        <p:nvSpPr>
          <p:cNvPr id="30" name="node-任务派发"/>
          <p:cNvSpPr>
            <a:spLocks noGrp="1"/>
          </p:cNvSpPr>
          <p:nvPr/>
        </p:nvSpPr>
        <p:spPr>
          <a:xfrm>
            <a:off x="4038600" y="4427220"/>
            <a:ext cx="20955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31" name="node-text-任务派发"/>
          <p:cNvSpPr>
            <a:spLocks noGrp="1"/>
          </p:cNvSpPr>
          <p:nvPr/>
        </p:nvSpPr>
        <p:spPr>
          <a:xfrm>
            <a:off x="4191000" y="4552950"/>
            <a:ext cx="1790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8912B"/>
                </a:solidFill>
              </a:defRPr>
            </a:pPr>
            <a:r>
              <a:rPr sz="1650" b="1">
                <a:solidFill>
                  <a:srgbClr val="D8912B"/>
                </a:solidFill>
              </a:rPr>
              <a:t>任务派发</a:t>
            </a:r>
            <a:endParaRPr sz="1650" b="1">
              <a:solidFill>
                <a:srgbClr val="D8912B"/>
              </a:solidFill>
            </a:endParaRPr>
          </a:p>
        </p:txBody>
      </p:sp>
      <p:sp>
        <p:nvSpPr>
          <p:cNvPr id="32" name="arrow-symbol-责任人"/>
          <p:cNvSpPr>
            <a:spLocks noGrp="1"/>
          </p:cNvSpPr>
          <p:nvPr/>
        </p:nvSpPr>
        <p:spPr>
          <a:xfrm>
            <a:off x="6229350" y="4419600"/>
            <a:ext cx="8763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5C6F68"/>
                </a:solidFill>
              </a:defRPr>
            </a:pPr>
            <a:r>
              <a:rPr sz="3150" b="1">
                <a:solidFill>
                  <a:srgbClr val="5C6F68"/>
                </a:solidFill>
              </a:rPr>
              <a:t>→</a:t>
            </a:r>
            <a:endParaRPr sz="3150" b="1">
              <a:solidFill>
                <a:srgbClr val="5C6F68"/>
              </a:solidFill>
            </a:endParaRPr>
          </a:p>
        </p:txBody>
      </p:sp>
      <p:sp>
        <p:nvSpPr>
          <p:cNvPr id="33" name="arrow-label-责任人"/>
          <p:cNvSpPr>
            <a:spLocks noGrp="1"/>
          </p:cNvSpPr>
          <p:nvPr/>
        </p:nvSpPr>
        <p:spPr>
          <a:xfrm>
            <a:off x="6229350" y="4953000"/>
            <a:ext cx="8763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5C6F68"/>
                </a:solidFill>
              </a:defRPr>
            </a:pPr>
            <a:r>
              <a:rPr sz="900">
                <a:solidFill>
                  <a:srgbClr val="5C6F68"/>
                </a:solidFill>
              </a:rPr>
              <a:t>责任人</a:t>
            </a:r>
            <a:endParaRPr sz="900">
              <a:solidFill>
                <a:srgbClr val="5C6F68"/>
              </a:solidFill>
            </a:endParaRPr>
          </a:p>
        </p:txBody>
      </p:sp>
      <p:sp>
        <p:nvSpPr>
          <p:cNvPr id="34" name="node-调查核查"/>
          <p:cNvSpPr>
            <a:spLocks noGrp="1"/>
          </p:cNvSpPr>
          <p:nvPr/>
        </p:nvSpPr>
        <p:spPr>
          <a:xfrm>
            <a:off x="7200900" y="4427220"/>
            <a:ext cx="20955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35" name="node-text-调查核查"/>
          <p:cNvSpPr>
            <a:spLocks noGrp="1"/>
          </p:cNvSpPr>
          <p:nvPr/>
        </p:nvSpPr>
        <p:spPr>
          <a:xfrm>
            <a:off x="7353300" y="4552950"/>
            <a:ext cx="1790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8912B"/>
                </a:solidFill>
              </a:defRPr>
            </a:pPr>
            <a:r>
              <a:rPr sz="1650" b="1">
                <a:solidFill>
                  <a:srgbClr val="D8912B"/>
                </a:solidFill>
              </a:rPr>
              <a:t>调查核查</a:t>
            </a:r>
            <a:endParaRPr sz="1650" b="1">
              <a:solidFill>
                <a:srgbClr val="D8912B"/>
              </a:solidFill>
            </a:endParaRPr>
          </a:p>
        </p:txBody>
      </p:sp>
      <p:sp>
        <p:nvSpPr>
          <p:cNvPr id="36" name="arrow-symbol-结论"/>
          <p:cNvSpPr>
            <a:spLocks noGrp="1"/>
          </p:cNvSpPr>
          <p:nvPr/>
        </p:nvSpPr>
        <p:spPr>
          <a:xfrm>
            <a:off x="9391650" y="4419600"/>
            <a:ext cx="8763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5C6F68"/>
                </a:solidFill>
              </a:defRPr>
            </a:pPr>
            <a:r>
              <a:rPr sz="3150" b="1">
                <a:solidFill>
                  <a:srgbClr val="5C6F68"/>
                </a:solidFill>
              </a:rPr>
              <a:t>→</a:t>
            </a:r>
            <a:endParaRPr sz="3150" b="1">
              <a:solidFill>
                <a:srgbClr val="5C6F68"/>
              </a:solidFill>
            </a:endParaRPr>
          </a:p>
        </p:txBody>
      </p:sp>
      <p:sp>
        <p:nvSpPr>
          <p:cNvPr id="37" name="arrow-label-结论"/>
          <p:cNvSpPr>
            <a:spLocks noGrp="1"/>
          </p:cNvSpPr>
          <p:nvPr/>
        </p:nvSpPr>
        <p:spPr>
          <a:xfrm>
            <a:off x="9391650" y="4953000"/>
            <a:ext cx="8763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5C6F68"/>
                </a:solidFill>
              </a:defRPr>
            </a:pPr>
            <a:r>
              <a:rPr sz="900">
                <a:solidFill>
                  <a:srgbClr val="5C6F68"/>
                </a:solidFill>
              </a:rPr>
              <a:t>结论</a:t>
            </a:r>
            <a:endParaRPr sz="900">
              <a:solidFill>
                <a:srgbClr val="5C6F68"/>
              </a:solidFill>
            </a:endParaRPr>
          </a:p>
        </p:txBody>
      </p:sp>
      <p:sp>
        <p:nvSpPr>
          <p:cNvPr id="38" name="node-处罚处置"/>
          <p:cNvSpPr>
            <a:spLocks noGrp="1"/>
          </p:cNvSpPr>
          <p:nvPr/>
        </p:nvSpPr>
        <p:spPr>
          <a:xfrm>
            <a:off x="10363200" y="4427220"/>
            <a:ext cx="20955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39" name="node-text-处罚处置"/>
          <p:cNvSpPr>
            <a:spLocks noGrp="1"/>
          </p:cNvSpPr>
          <p:nvPr/>
        </p:nvSpPr>
        <p:spPr>
          <a:xfrm>
            <a:off x="10515600" y="4552950"/>
            <a:ext cx="1790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8912B"/>
                </a:solidFill>
              </a:defRPr>
            </a:pPr>
            <a:r>
              <a:rPr sz="1650" b="1">
                <a:solidFill>
                  <a:srgbClr val="D8912B"/>
                </a:solidFill>
              </a:rPr>
              <a:t>处罚处置</a:t>
            </a:r>
            <a:endParaRPr sz="1650" b="1">
              <a:solidFill>
                <a:srgbClr val="D8912B"/>
              </a:solidFill>
            </a:endParaRPr>
          </a:p>
        </p:txBody>
      </p:sp>
      <p:sp>
        <p:nvSpPr>
          <p:cNvPr id="40" name="arrow-symbol-留痕"/>
          <p:cNvSpPr>
            <a:spLocks noGrp="1"/>
          </p:cNvSpPr>
          <p:nvPr/>
        </p:nvSpPr>
        <p:spPr>
          <a:xfrm>
            <a:off x="12553950" y="4419600"/>
            <a:ext cx="8763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5C6F68"/>
                </a:solidFill>
              </a:defRPr>
            </a:pPr>
            <a:r>
              <a:rPr sz="3150" b="1">
                <a:solidFill>
                  <a:srgbClr val="5C6F68"/>
                </a:solidFill>
              </a:rPr>
              <a:t>→</a:t>
            </a:r>
            <a:endParaRPr sz="3150" b="1">
              <a:solidFill>
                <a:srgbClr val="5C6F68"/>
              </a:solidFill>
            </a:endParaRPr>
          </a:p>
        </p:txBody>
      </p:sp>
      <p:sp>
        <p:nvSpPr>
          <p:cNvPr id="41" name="arrow-label-留痕"/>
          <p:cNvSpPr>
            <a:spLocks noGrp="1"/>
          </p:cNvSpPr>
          <p:nvPr/>
        </p:nvSpPr>
        <p:spPr>
          <a:xfrm>
            <a:off x="12553950" y="4953000"/>
            <a:ext cx="8763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5C6F68"/>
                </a:solidFill>
              </a:defRPr>
            </a:pPr>
            <a:r>
              <a:rPr sz="900">
                <a:solidFill>
                  <a:srgbClr val="5C6F68"/>
                </a:solidFill>
              </a:rPr>
              <a:t>留痕</a:t>
            </a:r>
            <a:endParaRPr sz="900">
              <a:solidFill>
                <a:srgbClr val="5C6F68"/>
              </a:solidFill>
            </a:endParaRPr>
          </a:p>
        </p:txBody>
      </p:sp>
      <p:sp>
        <p:nvSpPr>
          <p:cNvPr id="42" name="node-结果归档"/>
          <p:cNvSpPr>
            <a:spLocks noGrp="1"/>
          </p:cNvSpPr>
          <p:nvPr/>
        </p:nvSpPr>
        <p:spPr>
          <a:xfrm>
            <a:off x="13525500" y="4427220"/>
            <a:ext cx="20955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43" name="node-text-结果归档"/>
          <p:cNvSpPr>
            <a:spLocks noGrp="1"/>
          </p:cNvSpPr>
          <p:nvPr/>
        </p:nvSpPr>
        <p:spPr>
          <a:xfrm>
            <a:off x="13677900" y="4552950"/>
            <a:ext cx="1790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8912B"/>
                </a:solidFill>
              </a:defRPr>
            </a:pPr>
            <a:r>
              <a:rPr sz="1650" b="1">
                <a:solidFill>
                  <a:srgbClr val="D8912B"/>
                </a:solidFill>
              </a:rPr>
              <a:t>结果归档</a:t>
            </a:r>
            <a:endParaRPr sz="1650" b="1">
              <a:solidFill>
                <a:srgbClr val="D8912B"/>
              </a:solidFill>
            </a:endParaRPr>
          </a:p>
        </p:txBody>
      </p:sp>
      <p:sp>
        <p:nvSpPr>
          <p:cNvPr id="44" name="proof-1"/>
          <p:cNvSpPr>
            <a:spLocks noGrp="1"/>
          </p:cNvSpPr>
          <p:nvPr/>
        </p:nvSpPr>
        <p:spPr>
          <a:xfrm>
            <a:off x="876300" y="5619750"/>
            <a:ext cx="53340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31E"/>
                </a:solidFill>
              </a:defRPr>
            </a:pPr>
            <a:r>
              <a:rPr sz="1725">
                <a:solidFill>
                  <a:srgbClr val="13231E"/>
                </a:solidFill>
              </a:rPr>
              <a:t>批次是追溯主键：生产、采购、销售、库存围绕 batch_id 聚合。</a:t>
            </a:r>
            <a:endParaRPr sz="1725">
              <a:solidFill>
                <a:srgbClr val="13231E"/>
              </a:solidFill>
            </a:endParaRPr>
          </a:p>
        </p:txBody>
      </p:sp>
      <p:sp>
        <p:nvSpPr>
          <p:cNvPr id="45" name="proof-2"/>
          <p:cNvSpPr>
            <a:spLocks noGrp="1"/>
          </p:cNvSpPr>
          <p:nvPr/>
        </p:nvSpPr>
        <p:spPr>
          <a:xfrm>
            <a:off x="6477000" y="5619750"/>
            <a:ext cx="53340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31E"/>
                </a:solidFill>
              </a:defRPr>
            </a:pPr>
            <a:r>
              <a:rPr sz="1725">
                <a:solidFill>
                  <a:srgbClr val="13231E"/>
                </a:solidFill>
              </a:rPr>
              <a:t>库存写入与流转记录放入事务，避免记录成功但库存未更新。</a:t>
            </a:r>
            <a:endParaRPr sz="1725">
              <a:solidFill>
                <a:srgbClr val="13231E"/>
              </a:solidFill>
            </a:endParaRPr>
          </a:p>
        </p:txBody>
      </p:sp>
      <p:sp>
        <p:nvSpPr>
          <p:cNvPr id="46" name="proof-3"/>
          <p:cNvSpPr>
            <a:spLocks noGrp="1"/>
          </p:cNvSpPr>
          <p:nvPr/>
        </p:nvSpPr>
        <p:spPr>
          <a:xfrm>
            <a:off x="12077700" y="5619750"/>
            <a:ext cx="53340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13231E"/>
                </a:solidFill>
              </a:defRPr>
            </a:pPr>
            <a:r>
              <a:rPr sz="1725">
                <a:solidFill>
                  <a:srgbClr val="13231E"/>
                </a:solidFill>
              </a:rPr>
              <a:t>监管任务记录派发、调查、处置时间点，满足流程复盘。</a:t>
            </a:r>
            <a:endParaRPr sz="1725">
              <a:solidFill>
                <a:srgbClr val="13231E"/>
              </a:solidFill>
            </a:endParaRPr>
          </a:p>
        </p:txBody>
      </p:sp>
      <p:sp>
        <p:nvSpPr>
          <p:cNvPr id="47" name="footer"/>
          <p:cNvSpPr>
            <a:spLocks noGrp="1"/>
          </p:cNvSpPr>
          <p:nvPr/>
        </p:nvSpPr>
        <p:spPr>
          <a:xfrm>
            <a:off x="876300" y="9467850"/>
            <a:ext cx="16535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B8B86"/>
                </a:solidFill>
              </a:defRPr>
            </a:pPr>
            <a:r>
              <a:rPr sz="1050">
                <a:solidFill>
                  <a:srgbClr val="7B8B86"/>
                </a:solidFill>
              </a:rPr>
              <a:t>计算机221-25号 余梓杰 | 基于 Spring Boot 的药品追溯监管系统</a:t>
            </a:r>
            <a:endParaRPr sz="1050">
              <a:solidFill>
                <a:srgbClr val="7B8B8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nvas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8"/>
          </a:solidFill>
        </p:spPr>
      </p:sp>
      <p:sp>
        <p:nvSpPr>
          <p:cNvPr id="3" name="top-rule"/>
          <p:cNvSpPr>
            <a:spLocks noGrp="1"/>
          </p:cNvSpPr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1F7A5A"/>
          </a:solidFill>
        </p:spPr>
      </p:sp>
      <p:sp>
        <p:nvSpPr>
          <p:cNvPr id="4" name="slide-title"/>
          <p:cNvSpPr>
            <a:spLocks noGrp="1"/>
          </p:cNvSpPr>
          <p:nvPr/>
        </p:nvSpPr>
        <p:spPr>
          <a:xfrm>
            <a:off x="971550" y="666750"/>
            <a:ext cx="799084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3231E"/>
                </a:solidFill>
              </a:defRPr>
            </a:pPr>
            <a:r>
              <a:rPr sz="3750" b="1">
                <a:solidFill>
                  <a:srgbClr val="13231E"/>
                </a:solidFill>
              </a:rPr>
              <a:t>实现亮点：把论文功能落到工程边界</a:t>
            </a:r>
            <a:endParaRPr sz="3750" b="1">
              <a:solidFill>
                <a:srgbClr val="13231E"/>
              </a:solidFill>
            </a:endParaRPr>
          </a:p>
        </p:txBody>
      </p:sp>
      <p:sp>
        <p:nvSpPr>
          <p:cNvPr id="5" name="slide-subtitle"/>
          <p:cNvSpPr>
            <a:spLocks noGrp="1"/>
          </p:cNvSpPr>
          <p:nvPr/>
        </p:nvSpPr>
        <p:spPr>
          <a:xfrm>
            <a:off x="971550" y="1371600"/>
            <a:ext cx="70485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C6F68"/>
                </a:solidFill>
              </a:defRPr>
            </a:pPr>
            <a:r>
              <a:rPr sz="1800">
                <a:solidFill>
                  <a:srgbClr val="5C6F68"/>
                </a:solidFill>
              </a:rPr>
              <a:t>这页用于答辩时快速说明“我具体做了哪些模块、技术如何对应功能”。</a:t>
            </a:r>
            <a:endParaRPr sz="1800">
              <a:solidFill>
                <a:srgbClr val="5C6F68"/>
              </a:solidFill>
            </a:endParaRPr>
          </a:p>
        </p:txBody>
      </p:sp>
      <p:sp>
        <p:nvSpPr>
          <p:cNvPr id="6" name="head-层面"/>
          <p:cNvSpPr>
            <a:spLocks noGrp="1"/>
          </p:cNvSpPr>
          <p:nvPr/>
        </p:nvSpPr>
        <p:spPr>
          <a:xfrm>
            <a:off x="971550" y="2225040"/>
            <a:ext cx="2000250" cy="609600"/>
          </a:xfrm>
          <a:prstGeom prst="rect">
            <a:avLst/>
          </a:prstGeom>
          <a:solidFill>
            <a:srgbClr val="0E2A25"/>
          </a:solidFill>
        </p:spPr>
      </p:sp>
      <p:sp>
        <p:nvSpPr>
          <p:cNvPr id="7" name="head-text-层面"/>
          <p:cNvSpPr>
            <a:spLocks noGrp="1"/>
          </p:cNvSpPr>
          <p:nvPr/>
        </p:nvSpPr>
        <p:spPr>
          <a:xfrm>
            <a:off x="1143000" y="2400300"/>
            <a:ext cx="1657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层面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8" name="head-关键技术"/>
          <p:cNvSpPr>
            <a:spLocks noGrp="1"/>
          </p:cNvSpPr>
          <p:nvPr/>
        </p:nvSpPr>
        <p:spPr>
          <a:xfrm>
            <a:off x="2971800" y="2225040"/>
            <a:ext cx="3429000" cy="609600"/>
          </a:xfrm>
          <a:prstGeom prst="rect">
            <a:avLst/>
          </a:prstGeom>
          <a:solidFill>
            <a:srgbClr val="0E2A25"/>
          </a:solidFill>
        </p:spPr>
      </p:sp>
      <p:sp>
        <p:nvSpPr>
          <p:cNvPr id="9" name="head-text-关键技术"/>
          <p:cNvSpPr>
            <a:spLocks noGrp="1"/>
          </p:cNvSpPr>
          <p:nvPr/>
        </p:nvSpPr>
        <p:spPr>
          <a:xfrm>
            <a:off x="3143250" y="2400300"/>
            <a:ext cx="3086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关键技术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10" name="head-实现内容"/>
          <p:cNvSpPr>
            <a:spLocks noGrp="1"/>
          </p:cNvSpPr>
          <p:nvPr/>
        </p:nvSpPr>
        <p:spPr>
          <a:xfrm>
            <a:off x="6400800" y="2225040"/>
            <a:ext cx="10915650" cy="609600"/>
          </a:xfrm>
          <a:prstGeom prst="rect">
            <a:avLst/>
          </a:prstGeom>
          <a:solidFill>
            <a:srgbClr val="0E2A25"/>
          </a:solidFill>
        </p:spPr>
      </p:sp>
      <p:sp>
        <p:nvSpPr>
          <p:cNvPr id="11" name="head-text-实现内容"/>
          <p:cNvSpPr>
            <a:spLocks noGrp="1"/>
          </p:cNvSpPr>
          <p:nvPr/>
        </p:nvSpPr>
        <p:spPr>
          <a:xfrm>
            <a:off x="6572250" y="2400300"/>
            <a:ext cx="10572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实现内容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12" name="cell-0-0"/>
          <p:cNvSpPr>
            <a:spLocks noGrp="1"/>
          </p:cNvSpPr>
          <p:nvPr/>
        </p:nvSpPr>
        <p:spPr>
          <a:xfrm>
            <a:off x="971550" y="2834640"/>
            <a:ext cx="2000250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cell-text-0-0"/>
          <p:cNvSpPr>
            <a:spLocks noGrp="1"/>
          </p:cNvSpPr>
          <p:nvPr/>
        </p:nvSpPr>
        <p:spPr>
          <a:xfrm>
            <a:off x="1143000" y="3009900"/>
            <a:ext cx="1657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F7A5A"/>
                </a:solidFill>
              </a:defRPr>
            </a:pPr>
            <a:r>
              <a:rPr sz="1725" b="1">
                <a:solidFill>
                  <a:srgbClr val="1F7A5A"/>
                </a:solidFill>
              </a:rPr>
              <a:t>前端</a:t>
            </a:r>
            <a:endParaRPr sz="1725" b="1">
              <a:solidFill>
                <a:srgbClr val="1F7A5A"/>
              </a:solidFill>
            </a:endParaRPr>
          </a:p>
        </p:txBody>
      </p:sp>
      <p:sp>
        <p:nvSpPr>
          <p:cNvPr id="14" name="cell-0-1"/>
          <p:cNvSpPr>
            <a:spLocks noGrp="1"/>
          </p:cNvSpPr>
          <p:nvPr/>
        </p:nvSpPr>
        <p:spPr>
          <a:xfrm>
            <a:off x="2971800" y="2834640"/>
            <a:ext cx="3429000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cell-text-0-1"/>
          <p:cNvSpPr>
            <a:spLocks noGrp="1"/>
          </p:cNvSpPr>
          <p:nvPr/>
        </p:nvSpPr>
        <p:spPr>
          <a:xfrm>
            <a:off x="3143250" y="3009900"/>
            <a:ext cx="3086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13231E"/>
                </a:solidFill>
              </a:defRPr>
            </a:pPr>
            <a:r>
              <a:rPr sz="1575" b="0">
                <a:solidFill>
                  <a:srgbClr val="13231E"/>
                </a:solidFill>
              </a:rPr>
              <a:t>Vue 3 + Element Plus</a:t>
            </a:r>
            <a:endParaRPr sz="1575" b="0">
              <a:solidFill>
                <a:srgbClr val="13231E"/>
              </a:solidFill>
            </a:endParaRPr>
          </a:p>
        </p:txBody>
      </p:sp>
      <p:sp>
        <p:nvSpPr>
          <p:cNvPr id="16" name="cell-0-2"/>
          <p:cNvSpPr>
            <a:spLocks noGrp="1"/>
          </p:cNvSpPr>
          <p:nvPr/>
        </p:nvSpPr>
        <p:spPr>
          <a:xfrm>
            <a:off x="6400800" y="2834640"/>
            <a:ext cx="10915650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cell-text-0-2"/>
          <p:cNvSpPr>
            <a:spLocks noGrp="1"/>
          </p:cNvSpPr>
          <p:nvPr/>
        </p:nvSpPr>
        <p:spPr>
          <a:xfrm>
            <a:off x="6572250" y="3009900"/>
            <a:ext cx="10572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13231E"/>
                </a:solidFill>
              </a:defRPr>
            </a:pPr>
            <a:r>
              <a:rPr sz="1575" b="0">
                <a:solidFill>
                  <a:srgbClr val="13231E"/>
                </a:solidFill>
              </a:rPr>
              <a:t>路由守卫、角色菜单、表格表单、ECharts 看板</a:t>
            </a:r>
            <a:endParaRPr sz="1575" b="0">
              <a:solidFill>
                <a:srgbClr val="13231E"/>
              </a:solidFill>
            </a:endParaRPr>
          </a:p>
        </p:txBody>
      </p:sp>
      <p:sp>
        <p:nvSpPr>
          <p:cNvPr id="18" name="cell-1-0"/>
          <p:cNvSpPr>
            <a:spLocks noGrp="1"/>
          </p:cNvSpPr>
          <p:nvPr/>
        </p:nvSpPr>
        <p:spPr>
          <a:xfrm>
            <a:off x="971550" y="3749040"/>
            <a:ext cx="2000250" cy="914400"/>
          </a:xfrm>
          <a:prstGeom prst="rect">
            <a:avLst/>
          </a:prstGeom>
          <a:solidFill>
            <a:srgbClr val="EEF6F3"/>
          </a:solidFill>
        </p:spPr>
      </p:sp>
      <p:sp>
        <p:nvSpPr>
          <p:cNvPr id="19" name="cell-text-1-0"/>
          <p:cNvSpPr>
            <a:spLocks noGrp="1"/>
          </p:cNvSpPr>
          <p:nvPr/>
        </p:nvSpPr>
        <p:spPr>
          <a:xfrm>
            <a:off x="1143000" y="3924300"/>
            <a:ext cx="1657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F7A5A"/>
                </a:solidFill>
              </a:defRPr>
            </a:pPr>
            <a:r>
              <a:rPr sz="1725" b="1">
                <a:solidFill>
                  <a:srgbClr val="1F7A5A"/>
                </a:solidFill>
              </a:rPr>
              <a:t>移动端</a:t>
            </a:r>
            <a:endParaRPr sz="1725" b="1">
              <a:solidFill>
                <a:srgbClr val="1F7A5A"/>
              </a:solidFill>
            </a:endParaRPr>
          </a:p>
        </p:txBody>
      </p:sp>
      <p:sp>
        <p:nvSpPr>
          <p:cNvPr id="20" name="cell-1-1"/>
          <p:cNvSpPr>
            <a:spLocks noGrp="1"/>
          </p:cNvSpPr>
          <p:nvPr/>
        </p:nvSpPr>
        <p:spPr>
          <a:xfrm>
            <a:off x="2971800" y="3749040"/>
            <a:ext cx="3429000" cy="914400"/>
          </a:xfrm>
          <a:prstGeom prst="rect">
            <a:avLst/>
          </a:prstGeom>
          <a:solidFill>
            <a:srgbClr val="EEF6F3"/>
          </a:solidFill>
        </p:spPr>
      </p:sp>
      <p:sp>
        <p:nvSpPr>
          <p:cNvPr id="21" name="cell-text-1-1"/>
          <p:cNvSpPr>
            <a:spLocks noGrp="1"/>
          </p:cNvSpPr>
          <p:nvPr/>
        </p:nvSpPr>
        <p:spPr>
          <a:xfrm>
            <a:off x="3143250" y="3924300"/>
            <a:ext cx="3086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13231E"/>
                </a:solidFill>
              </a:defRPr>
            </a:pPr>
            <a:r>
              <a:rPr sz="1575" b="0">
                <a:solidFill>
                  <a:srgbClr val="13231E"/>
                </a:solidFill>
              </a:rPr>
              <a:t>Flutter</a:t>
            </a:r>
            <a:endParaRPr sz="1575" b="0">
              <a:solidFill>
                <a:srgbClr val="13231E"/>
              </a:solidFill>
            </a:endParaRPr>
          </a:p>
        </p:txBody>
      </p:sp>
      <p:sp>
        <p:nvSpPr>
          <p:cNvPr id="22" name="cell-1-2"/>
          <p:cNvSpPr>
            <a:spLocks noGrp="1"/>
          </p:cNvSpPr>
          <p:nvPr/>
        </p:nvSpPr>
        <p:spPr>
          <a:xfrm>
            <a:off x="6400800" y="3749040"/>
            <a:ext cx="10915650" cy="914400"/>
          </a:xfrm>
          <a:prstGeom prst="rect">
            <a:avLst/>
          </a:prstGeom>
          <a:solidFill>
            <a:srgbClr val="EEF6F3"/>
          </a:solidFill>
        </p:spPr>
      </p:sp>
      <p:sp>
        <p:nvSpPr>
          <p:cNvPr id="23" name="cell-text-1-2"/>
          <p:cNvSpPr>
            <a:spLocks noGrp="1"/>
          </p:cNvSpPr>
          <p:nvPr/>
        </p:nvSpPr>
        <p:spPr>
          <a:xfrm>
            <a:off x="6572250" y="3924300"/>
            <a:ext cx="10572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13231E"/>
                </a:solidFill>
              </a:defRPr>
            </a:pPr>
            <a:r>
              <a:rPr sz="1575" b="0">
                <a:solidFill>
                  <a:srgbClr val="13231E"/>
                </a:solidFill>
              </a:rPr>
              <a:t>扫码追溯、公众举报、监管现场、AI 问答</a:t>
            </a:r>
            <a:endParaRPr sz="1575" b="0">
              <a:solidFill>
                <a:srgbClr val="13231E"/>
              </a:solidFill>
            </a:endParaRPr>
          </a:p>
        </p:txBody>
      </p:sp>
      <p:sp>
        <p:nvSpPr>
          <p:cNvPr id="24" name="cell-2-0"/>
          <p:cNvSpPr>
            <a:spLocks noGrp="1"/>
          </p:cNvSpPr>
          <p:nvPr/>
        </p:nvSpPr>
        <p:spPr>
          <a:xfrm>
            <a:off x="971550" y="4663440"/>
            <a:ext cx="2000250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cell-text-2-0"/>
          <p:cNvSpPr>
            <a:spLocks noGrp="1"/>
          </p:cNvSpPr>
          <p:nvPr/>
        </p:nvSpPr>
        <p:spPr>
          <a:xfrm>
            <a:off x="1143000" y="4838700"/>
            <a:ext cx="1657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F7A5A"/>
                </a:solidFill>
              </a:defRPr>
            </a:pPr>
            <a:r>
              <a:rPr sz="1725" b="1">
                <a:solidFill>
                  <a:srgbClr val="1F7A5A"/>
                </a:solidFill>
              </a:rPr>
              <a:t>后端</a:t>
            </a:r>
            <a:endParaRPr sz="1725" b="1">
              <a:solidFill>
                <a:srgbClr val="1F7A5A"/>
              </a:solidFill>
            </a:endParaRPr>
          </a:p>
        </p:txBody>
      </p:sp>
      <p:sp>
        <p:nvSpPr>
          <p:cNvPr id="26" name="cell-2-1"/>
          <p:cNvSpPr>
            <a:spLocks noGrp="1"/>
          </p:cNvSpPr>
          <p:nvPr/>
        </p:nvSpPr>
        <p:spPr>
          <a:xfrm>
            <a:off x="2971800" y="4663440"/>
            <a:ext cx="3429000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cell-text-2-1"/>
          <p:cNvSpPr>
            <a:spLocks noGrp="1"/>
          </p:cNvSpPr>
          <p:nvPr/>
        </p:nvSpPr>
        <p:spPr>
          <a:xfrm>
            <a:off x="3143250" y="4838700"/>
            <a:ext cx="3086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13231E"/>
                </a:solidFill>
              </a:defRPr>
            </a:pPr>
            <a:r>
              <a:rPr sz="1575" b="0">
                <a:solidFill>
                  <a:srgbClr val="13231E"/>
                </a:solidFill>
              </a:rPr>
              <a:t>Spring Boot + MyBatis-Plus</a:t>
            </a:r>
            <a:endParaRPr sz="1575" b="0">
              <a:solidFill>
                <a:srgbClr val="13231E"/>
              </a:solidFill>
            </a:endParaRPr>
          </a:p>
        </p:txBody>
      </p:sp>
      <p:sp>
        <p:nvSpPr>
          <p:cNvPr id="28" name="cell-2-2"/>
          <p:cNvSpPr>
            <a:spLocks noGrp="1"/>
          </p:cNvSpPr>
          <p:nvPr/>
        </p:nvSpPr>
        <p:spPr>
          <a:xfrm>
            <a:off x="6400800" y="4663440"/>
            <a:ext cx="10915650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cell-text-2-2"/>
          <p:cNvSpPr>
            <a:spLocks noGrp="1"/>
          </p:cNvSpPr>
          <p:nvPr/>
        </p:nvSpPr>
        <p:spPr>
          <a:xfrm>
            <a:off x="6572250" y="4838700"/>
            <a:ext cx="10572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13231E"/>
                </a:solidFill>
              </a:defRPr>
            </a:pPr>
            <a:r>
              <a:rPr sz="1575" b="0">
                <a:solidFill>
                  <a:srgbClr val="13231E"/>
                </a:solidFill>
              </a:rPr>
              <a:t>Controller / Service / Mapper 分层，事务编排</a:t>
            </a:r>
            <a:endParaRPr sz="1575" b="0">
              <a:solidFill>
                <a:srgbClr val="13231E"/>
              </a:solidFill>
            </a:endParaRPr>
          </a:p>
        </p:txBody>
      </p:sp>
      <p:sp>
        <p:nvSpPr>
          <p:cNvPr id="30" name="cell-3-0"/>
          <p:cNvSpPr>
            <a:spLocks noGrp="1"/>
          </p:cNvSpPr>
          <p:nvPr/>
        </p:nvSpPr>
        <p:spPr>
          <a:xfrm>
            <a:off x="971550" y="5577840"/>
            <a:ext cx="2000250" cy="914400"/>
          </a:xfrm>
          <a:prstGeom prst="rect">
            <a:avLst/>
          </a:prstGeom>
          <a:solidFill>
            <a:srgbClr val="EEF6F3"/>
          </a:solidFill>
        </p:spPr>
      </p:sp>
      <p:sp>
        <p:nvSpPr>
          <p:cNvPr id="31" name="cell-text-3-0"/>
          <p:cNvSpPr>
            <a:spLocks noGrp="1"/>
          </p:cNvSpPr>
          <p:nvPr/>
        </p:nvSpPr>
        <p:spPr>
          <a:xfrm>
            <a:off x="1143000" y="5753100"/>
            <a:ext cx="1657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F7A5A"/>
                </a:solidFill>
              </a:defRPr>
            </a:pPr>
            <a:r>
              <a:rPr sz="1725" b="1">
                <a:solidFill>
                  <a:srgbClr val="1F7A5A"/>
                </a:solidFill>
              </a:rPr>
              <a:t>安全</a:t>
            </a:r>
            <a:endParaRPr sz="1725" b="1">
              <a:solidFill>
                <a:srgbClr val="1F7A5A"/>
              </a:solidFill>
            </a:endParaRPr>
          </a:p>
        </p:txBody>
      </p:sp>
      <p:sp>
        <p:nvSpPr>
          <p:cNvPr id="32" name="cell-3-1"/>
          <p:cNvSpPr>
            <a:spLocks noGrp="1"/>
          </p:cNvSpPr>
          <p:nvPr/>
        </p:nvSpPr>
        <p:spPr>
          <a:xfrm>
            <a:off x="2971800" y="5577840"/>
            <a:ext cx="3429000" cy="914400"/>
          </a:xfrm>
          <a:prstGeom prst="rect">
            <a:avLst/>
          </a:prstGeom>
          <a:solidFill>
            <a:srgbClr val="EEF6F3"/>
          </a:solidFill>
        </p:spPr>
      </p:sp>
      <p:sp>
        <p:nvSpPr>
          <p:cNvPr id="33" name="cell-text-3-1"/>
          <p:cNvSpPr>
            <a:spLocks noGrp="1"/>
          </p:cNvSpPr>
          <p:nvPr/>
        </p:nvSpPr>
        <p:spPr>
          <a:xfrm>
            <a:off x="3143250" y="5753100"/>
            <a:ext cx="3086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13231E"/>
                </a:solidFill>
              </a:defRPr>
            </a:pPr>
            <a:r>
              <a:rPr sz="1575" b="0">
                <a:solidFill>
                  <a:srgbClr val="13231E"/>
                </a:solidFill>
              </a:rPr>
              <a:t>JWT + RBAC + Redis</a:t>
            </a:r>
            <a:endParaRPr sz="1575" b="0">
              <a:solidFill>
                <a:srgbClr val="13231E"/>
              </a:solidFill>
            </a:endParaRPr>
          </a:p>
        </p:txBody>
      </p:sp>
      <p:sp>
        <p:nvSpPr>
          <p:cNvPr id="34" name="cell-3-2"/>
          <p:cNvSpPr>
            <a:spLocks noGrp="1"/>
          </p:cNvSpPr>
          <p:nvPr/>
        </p:nvSpPr>
        <p:spPr>
          <a:xfrm>
            <a:off x="6400800" y="5577840"/>
            <a:ext cx="10915650" cy="914400"/>
          </a:xfrm>
          <a:prstGeom prst="rect">
            <a:avLst/>
          </a:prstGeom>
          <a:solidFill>
            <a:srgbClr val="EEF6F3"/>
          </a:solidFill>
        </p:spPr>
      </p:sp>
      <p:sp>
        <p:nvSpPr>
          <p:cNvPr id="35" name="cell-text-3-2"/>
          <p:cNvSpPr>
            <a:spLocks noGrp="1"/>
          </p:cNvSpPr>
          <p:nvPr/>
        </p:nvSpPr>
        <p:spPr>
          <a:xfrm>
            <a:off x="6572250" y="5753100"/>
            <a:ext cx="10572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13231E"/>
                </a:solidFill>
              </a:defRPr>
            </a:pPr>
            <a:r>
              <a:rPr sz="1575" b="0">
                <a:solidFill>
                  <a:srgbClr val="13231E"/>
                </a:solidFill>
              </a:rPr>
              <a:t>令牌签发、刷新、失效、接口角色拦截</a:t>
            </a:r>
            <a:endParaRPr sz="1575" b="0">
              <a:solidFill>
                <a:srgbClr val="13231E"/>
              </a:solidFill>
            </a:endParaRPr>
          </a:p>
        </p:txBody>
      </p:sp>
      <p:sp>
        <p:nvSpPr>
          <p:cNvPr id="36" name="cell-4-0"/>
          <p:cNvSpPr>
            <a:spLocks noGrp="1"/>
          </p:cNvSpPr>
          <p:nvPr/>
        </p:nvSpPr>
        <p:spPr>
          <a:xfrm>
            <a:off x="971550" y="6492240"/>
            <a:ext cx="2000250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7" name="cell-text-4-0"/>
          <p:cNvSpPr>
            <a:spLocks noGrp="1"/>
          </p:cNvSpPr>
          <p:nvPr/>
        </p:nvSpPr>
        <p:spPr>
          <a:xfrm>
            <a:off x="1143000" y="6667500"/>
            <a:ext cx="1657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F7A5A"/>
                </a:solidFill>
              </a:defRPr>
            </a:pPr>
            <a:r>
              <a:rPr sz="1725" b="1">
                <a:solidFill>
                  <a:srgbClr val="1F7A5A"/>
                </a:solidFill>
              </a:rPr>
              <a:t>治理</a:t>
            </a:r>
            <a:endParaRPr sz="1725" b="1">
              <a:solidFill>
                <a:srgbClr val="1F7A5A"/>
              </a:solidFill>
            </a:endParaRPr>
          </a:p>
        </p:txBody>
      </p:sp>
      <p:sp>
        <p:nvSpPr>
          <p:cNvPr id="38" name="cell-4-1"/>
          <p:cNvSpPr>
            <a:spLocks noGrp="1"/>
          </p:cNvSpPr>
          <p:nvPr/>
        </p:nvSpPr>
        <p:spPr>
          <a:xfrm>
            <a:off x="2971800" y="6492240"/>
            <a:ext cx="3429000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9" name="cell-text-4-1"/>
          <p:cNvSpPr>
            <a:spLocks noGrp="1"/>
          </p:cNvSpPr>
          <p:nvPr/>
        </p:nvSpPr>
        <p:spPr>
          <a:xfrm>
            <a:off x="3143250" y="6667500"/>
            <a:ext cx="3086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13231E"/>
                </a:solidFill>
              </a:defRPr>
            </a:pPr>
            <a:r>
              <a:rPr sz="1575" b="0">
                <a:solidFill>
                  <a:srgbClr val="13231E"/>
                </a:solidFill>
              </a:rPr>
              <a:t>审计日志 + 导入回执</a:t>
            </a:r>
            <a:endParaRPr sz="1575" b="0">
              <a:solidFill>
                <a:srgbClr val="13231E"/>
              </a:solidFill>
            </a:endParaRPr>
          </a:p>
        </p:txBody>
      </p:sp>
      <p:sp>
        <p:nvSpPr>
          <p:cNvPr id="40" name="cell-4-2"/>
          <p:cNvSpPr>
            <a:spLocks noGrp="1"/>
          </p:cNvSpPr>
          <p:nvPr/>
        </p:nvSpPr>
        <p:spPr>
          <a:xfrm>
            <a:off x="6400800" y="6492240"/>
            <a:ext cx="10915650" cy="9144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" name="cell-text-4-2"/>
          <p:cNvSpPr>
            <a:spLocks noGrp="1"/>
          </p:cNvSpPr>
          <p:nvPr/>
        </p:nvSpPr>
        <p:spPr>
          <a:xfrm>
            <a:off x="6572250" y="6667500"/>
            <a:ext cx="105727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13231E"/>
                </a:solidFill>
              </a:defRPr>
            </a:pPr>
            <a:r>
              <a:rPr sz="1575" b="0">
                <a:solidFill>
                  <a:srgbClr val="13231E"/>
                </a:solidFill>
              </a:rPr>
              <a:t>写操作快照、差异记录、批量数据质量反馈</a:t>
            </a:r>
            <a:endParaRPr sz="1575" b="0">
              <a:solidFill>
                <a:srgbClr val="13231E"/>
              </a:solidFill>
            </a:endParaRPr>
          </a:p>
        </p:txBody>
      </p:sp>
      <p:sp>
        <p:nvSpPr>
          <p:cNvPr id="42" name="footer"/>
          <p:cNvSpPr>
            <a:spLocks noGrp="1"/>
          </p:cNvSpPr>
          <p:nvPr/>
        </p:nvSpPr>
        <p:spPr>
          <a:xfrm>
            <a:off x="971550" y="9467850"/>
            <a:ext cx="163449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B8B86"/>
                </a:solidFill>
              </a:defRPr>
            </a:pPr>
            <a:r>
              <a:rPr sz="1050">
                <a:solidFill>
                  <a:srgbClr val="7B8B86"/>
                </a:solidFill>
              </a:rPr>
              <a:t>计算机221-25号 余梓杰 | 基于 Spring Boot 的药品追溯监管系统</a:t>
            </a:r>
            <a:endParaRPr sz="1050">
              <a:solidFill>
                <a:srgbClr val="7B8B8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nvas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8"/>
          </a:solidFill>
        </p:spPr>
      </p:sp>
      <p:sp>
        <p:nvSpPr>
          <p:cNvPr id="3" name="top-rule"/>
          <p:cNvSpPr>
            <a:spLocks noGrp="1"/>
          </p:cNvSpPr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1F7A5A"/>
          </a:solidFill>
        </p:spPr>
      </p:sp>
      <p:sp>
        <p:nvSpPr>
          <p:cNvPr id="4" name="slide-title"/>
          <p:cNvSpPr>
            <a:spLocks noGrp="1"/>
          </p:cNvSpPr>
          <p:nvPr/>
        </p:nvSpPr>
        <p:spPr>
          <a:xfrm>
            <a:off x="914400" y="666750"/>
            <a:ext cx="8775065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3231E"/>
                </a:solidFill>
              </a:defRPr>
            </a:pPr>
            <a:r>
              <a:rPr sz="3750" b="1">
                <a:solidFill>
                  <a:srgbClr val="13231E"/>
                </a:solidFill>
              </a:rPr>
              <a:t>AI与算法：检索增强，减少模型自由发挥</a:t>
            </a:r>
            <a:endParaRPr sz="3750" b="1">
              <a:solidFill>
                <a:srgbClr val="13231E"/>
              </a:solidFill>
            </a:endParaRPr>
          </a:p>
        </p:txBody>
      </p:sp>
      <p:sp>
        <p:nvSpPr>
          <p:cNvPr id="5" name="slide-subtitle"/>
          <p:cNvSpPr>
            <a:spLocks noGrp="1"/>
          </p:cNvSpPr>
          <p:nvPr/>
        </p:nvSpPr>
        <p:spPr>
          <a:xfrm>
            <a:off x="914400" y="1371600"/>
            <a:ext cx="7829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C6F68"/>
                </a:solidFill>
              </a:defRPr>
            </a:pPr>
            <a:r>
              <a:rPr sz="1800">
                <a:solidFill>
                  <a:srgbClr val="5C6F68"/>
                </a:solidFill>
              </a:rPr>
              <a:t>论文中的 AI 能力，在实现上拆成意图识别、只读查询、事实注入和回答生成。</a:t>
            </a:r>
            <a:endParaRPr sz="1800">
              <a:solidFill>
                <a:srgbClr val="5C6F68"/>
              </a:solidFill>
            </a:endParaRPr>
          </a:p>
        </p:txBody>
      </p:sp>
      <p:sp>
        <p:nvSpPr>
          <p:cNvPr id="6" name="node-用户问题"/>
          <p:cNvSpPr>
            <a:spLocks noGrp="1"/>
          </p:cNvSpPr>
          <p:nvPr/>
        </p:nvSpPr>
        <p:spPr>
          <a:xfrm>
            <a:off x="914400" y="1969770"/>
            <a:ext cx="180975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7" name="node-text-用户问题"/>
          <p:cNvSpPr>
            <a:spLocks noGrp="1"/>
          </p:cNvSpPr>
          <p:nvPr/>
        </p:nvSpPr>
        <p:spPr>
          <a:xfrm>
            <a:off x="1066800" y="2095500"/>
            <a:ext cx="1504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F9AA0"/>
                </a:solidFill>
              </a:defRPr>
            </a:pPr>
            <a:r>
              <a:rPr sz="1650" b="1">
                <a:solidFill>
                  <a:srgbClr val="1F9AA0"/>
                </a:solidFill>
              </a:rPr>
              <a:t>用户问题</a:t>
            </a:r>
            <a:endParaRPr sz="1650" b="1">
              <a:solidFill>
                <a:srgbClr val="1F9AA0"/>
              </a:solidFill>
            </a:endParaRPr>
          </a:p>
        </p:txBody>
      </p:sp>
      <p:sp>
        <p:nvSpPr>
          <p:cNvPr id="8" name="arrow-symbol-"/>
          <p:cNvSpPr>
            <a:spLocks noGrp="1"/>
          </p:cNvSpPr>
          <p:nvPr/>
        </p:nvSpPr>
        <p:spPr>
          <a:xfrm>
            <a:off x="2876550" y="1962150"/>
            <a:ext cx="8763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5C6F68"/>
                </a:solidFill>
              </a:defRPr>
            </a:pPr>
            <a:r>
              <a:rPr sz="3150" b="1">
                <a:solidFill>
                  <a:srgbClr val="5C6F68"/>
                </a:solidFill>
              </a:rPr>
              <a:t>→</a:t>
            </a:r>
            <a:endParaRPr sz="3150" b="1">
              <a:solidFill>
                <a:srgbClr val="5C6F68"/>
              </a:solidFill>
            </a:endParaRPr>
          </a:p>
        </p:txBody>
      </p:sp>
      <p:sp>
        <p:nvSpPr>
          <p:cNvPr id="9" name="node-意图识别"/>
          <p:cNvSpPr>
            <a:spLocks noGrp="1"/>
          </p:cNvSpPr>
          <p:nvPr/>
        </p:nvSpPr>
        <p:spPr>
          <a:xfrm>
            <a:off x="3905250" y="1969770"/>
            <a:ext cx="200025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10" name="node-text-意图识别"/>
          <p:cNvSpPr>
            <a:spLocks noGrp="1"/>
          </p:cNvSpPr>
          <p:nvPr/>
        </p:nvSpPr>
        <p:spPr>
          <a:xfrm>
            <a:off x="4057650" y="2095500"/>
            <a:ext cx="1695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F9AA0"/>
                </a:solidFill>
              </a:defRPr>
            </a:pPr>
            <a:r>
              <a:rPr sz="1650" b="1">
                <a:solidFill>
                  <a:srgbClr val="1F9AA0"/>
                </a:solidFill>
              </a:rPr>
              <a:t>意图识别</a:t>
            </a:r>
            <a:endParaRPr sz="1650" b="1">
              <a:solidFill>
                <a:srgbClr val="1F9AA0"/>
              </a:solidFill>
            </a:endParaRPr>
          </a:p>
        </p:txBody>
      </p:sp>
      <p:sp>
        <p:nvSpPr>
          <p:cNvPr id="11" name="arrow-symbol-"/>
          <p:cNvSpPr>
            <a:spLocks noGrp="1"/>
          </p:cNvSpPr>
          <p:nvPr/>
        </p:nvSpPr>
        <p:spPr>
          <a:xfrm>
            <a:off x="6057900" y="1962150"/>
            <a:ext cx="8763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5C6F68"/>
                </a:solidFill>
              </a:defRPr>
            </a:pPr>
            <a:r>
              <a:rPr sz="3150" b="1">
                <a:solidFill>
                  <a:srgbClr val="5C6F68"/>
                </a:solidFill>
              </a:rPr>
              <a:t>→</a:t>
            </a:r>
            <a:endParaRPr sz="3150" b="1">
              <a:solidFill>
                <a:srgbClr val="5C6F68"/>
              </a:solidFill>
            </a:endParaRPr>
          </a:p>
        </p:txBody>
      </p:sp>
      <p:sp>
        <p:nvSpPr>
          <p:cNvPr id="12" name="node-参数抽取"/>
          <p:cNvSpPr>
            <a:spLocks noGrp="1"/>
          </p:cNvSpPr>
          <p:nvPr/>
        </p:nvSpPr>
        <p:spPr>
          <a:xfrm>
            <a:off x="7086600" y="1969770"/>
            <a:ext cx="200025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13" name="node-text-参数抽取"/>
          <p:cNvSpPr>
            <a:spLocks noGrp="1"/>
          </p:cNvSpPr>
          <p:nvPr/>
        </p:nvSpPr>
        <p:spPr>
          <a:xfrm>
            <a:off x="7239000" y="2095500"/>
            <a:ext cx="1695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F9AA0"/>
                </a:solidFill>
              </a:defRPr>
            </a:pPr>
            <a:r>
              <a:rPr sz="1650" b="1">
                <a:solidFill>
                  <a:srgbClr val="1F9AA0"/>
                </a:solidFill>
              </a:rPr>
              <a:t>参数抽取</a:t>
            </a:r>
            <a:endParaRPr sz="1650" b="1">
              <a:solidFill>
                <a:srgbClr val="1F9AA0"/>
              </a:solidFill>
            </a:endParaRPr>
          </a:p>
        </p:txBody>
      </p:sp>
      <p:sp>
        <p:nvSpPr>
          <p:cNvPr id="14" name="node-只读 SQL"/>
          <p:cNvSpPr>
            <a:spLocks noGrp="1"/>
          </p:cNvSpPr>
          <p:nvPr/>
        </p:nvSpPr>
        <p:spPr>
          <a:xfrm>
            <a:off x="914400" y="2884170"/>
            <a:ext cx="180975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15" name="node-text-只读 SQL"/>
          <p:cNvSpPr>
            <a:spLocks noGrp="1"/>
          </p:cNvSpPr>
          <p:nvPr/>
        </p:nvSpPr>
        <p:spPr>
          <a:xfrm>
            <a:off x="1066800" y="3009900"/>
            <a:ext cx="1504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563A8"/>
                </a:solidFill>
              </a:defRPr>
            </a:pPr>
            <a:r>
              <a:rPr sz="1650" b="1">
                <a:solidFill>
                  <a:srgbClr val="2563A8"/>
                </a:solidFill>
              </a:rPr>
              <a:t>只读 SQL</a:t>
            </a:r>
            <a:endParaRPr sz="1650" b="1">
              <a:solidFill>
                <a:srgbClr val="2563A8"/>
              </a:solidFill>
            </a:endParaRPr>
          </a:p>
        </p:txBody>
      </p:sp>
      <p:sp>
        <p:nvSpPr>
          <p:cNvPr id="16" name="arrow-symbol-"/>
          <p:cNvSpPr>
            <a:spLocks noGrp="1"/>
          </p:cNvSpPr>
          <p:nvPr/>
        </p:nvSpPr>
        <p:spPr>
          <a:xfrm>
            <a:off x="2876550" y="2876550"/>
            <a:ext cx="8763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5C6F68"/>
                </a:solidFill>
              </a:defRPr>
            </a:pPr>
            <a:r>
              <a:rPr sz="3150" b="1">
                <a:solidFill>
                  <a:srgbClr val="5C6F68"/>
                </a:solidFill>
              </a:rPr>
              <a:t>→</a:t>
            </a:r>
            <a:endParaRPr sz="3150" b="1">
              <a:solidFill>
                <a:srgbClr val="5C6F68"/>
              </a:solidFill>
            </a:endParaRPr>
          </a:p>
        </p:txBody>
      </p:sp>
      <p:sp>
        <p:nvSpPr>
          <p:cNvPr id="17" name="node-事实结果"/>
          <p:cNvSpPr>
            <a:spLocks noGrp="1"/>
          </p:cNvSpPr>
          <p:nvPr/>
        </p:nvSpPr>
        <p:spPr>
          <a:xfrm>
            <a:off x="3905250" y="2884170"/>
            <a:ext cx="200025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18" name="node-text-事实结果"/>
          <p:cNvSpPr>
            <a:spLocks noGrp="1"/>
          </p:cNvSpPr>
          <p:nvPr/>
        </p:nvSpPr>
        <p:spPr>
          <a:xfrm>
            <a:off x="4057650" y="3009900"/>
            <a:ext cx="1695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563A8"/>
                </a:solidFill>
              </a:defRPr>
            </a:pPr>
            <a:r>
              <a:rPr sz="1650" b="1">
                <a:solidFill>
                  <a:srgbClr val="2563A8"/>
                </a:solidFill>
              </a:rPr>
              <a:t>事实结果</a:t>
            </a:r>
            <a:endParaRPr sz="1650" b="1">
              <a:solidFill>
                <a:srgbClr val="2563A8"/>
              </a:solidFill>
            </a:endParaRPr>
          </a:p>
        </p:txBody>
      </p:sp>
      <p:sp>
        <p:nvSpPr>
          <p:cNvPr id="19" name="arrow-symbol-"/>
          <p:cNvSpPr>
            <a:spLocks noGrp="1"/>
          </p:cNvSpPr>
          <p:nvPr/>
        </p:nvSpPr>
        <p:spPr>
          <a:xfrm>
            <a:off x="6057900" y="2876550"/>
            <a:ext cx="8763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5C6F68"/>
                </a:solidFill>
              </a:defRPr>
            </a:pPr>
            <a:r>
              <a:rPr sz="3150" b="1">
                <a:solidFill>
                  <a:srgbClr val="5C6F68"/>
                </a:solidFill>
              </a:rPr>
              <a:t>→</a:t>
            </a:r>
            <a:endParaRPr sz="3150" b="1">
              <a:solidFill>
                <a:srgbClr val="5C6F68"/>
              </a:solidFill>
            </a:endParaRPr>
          </a:p>
        </p:txBody>
      </p:sp>
      <p:sp>
        <p:nvSpPr>
          <p:cNvPr id="20" name="node-Prompt 注入"/>
          <p:cNvSpPr>
            <a:spLocks noGrp="1"/>
          </p:cNvSpPr>
          <p:nvPr/>
        </p:nvSpPr>
        <p:spPr>
          <a:xfrm>
            <a:off x="7086600" y="2884170"/>
            <a:ext cx="219075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21" name="node-text-Prompt 注入"/>
          <p:cNvSpPr>
            <a:spLocks noGrp="1"/>
          </p:cNvSpPr>
          <p:nvPr/>
        </p:nvSpPr>
        <p:spPr>
          <a:xfrm>
            <a:off x="7239000" y="3009900"/>
            <a:ext cx="1885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563A8"/>
                </a:solidFill>
              </a:defRPr>
            </a:pPr>
            <a:r>
              <a:rPr sz="1650" b="1">
                <a:solidFill>
                  <a:srgbClr val="2563A8"/>
                </a:solidFill>
              </a:rPr>
              <a:t>Prompt 注入</a:t>
            </a:r>
            <a:endParaRPr sz="1650" b="1">
              <a:solidFill>
                <a:srgbClr val="2563A8"/>
              </a:solidFill>
            </a:endParaRPr>
          </a:p>
        </p:txBody>
      </p:sp>
      <p:sp>
        <p:nvSpPr>
          <p:cNvPr id="22" name="node-大模型生成"/>
          <p:cNvSpPr>
            <a:spLocks noGrp="1"/>
          </p:cNvSpPr>
          <p:nvPr/>
        </p:nvSpPr>
        <p:spPr>
          <a:xfrm>
            <a:off x="914400" y="3798570"/>
            <a:ext cx="219075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23" name="node-text-大模型生成"/>
          <p:cNvSpPr>
            <a:spLocks noGrp="1"/>
          </p:cNvSpPr>
          <p:nvPr/>
        </p:nvSpPr>
        <p:spPr>
          <a:xfrm>
            <a:off x="1066800" y="3924300"/>
            <a:ext cx="1885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F7A5A"/>
                </a:solidFill>
              </a:defRPr>
            </a:pPr>
            <a:r>
              <a:rPr sz="1650" b="1">
                <a:solidFill>
                  <a:srgbClr val="1F7A5A"/>
                </a:solidFill>
              </a:rPr>
              <a:t>大模型生成</a:t>
            </a:r>
            <a:endParaRPr sz="1650" b="1">
              <a:solidFill>
                <a:srgbClr val="1F7A5A"/>
              </a:solidFill>
            </a:endParaRPr>
          </a:p>
        </p:txBody>
      </p:sp>
      <p:sp>
        <p:nvSpPr>
          <p:cNvPr id="24" name="arrow-symbol-"/>
          <p:cNvSpPr>
            <a:spLocks noGrp="1"/>
          </p:cNvSpPr>
          <p:nvPr/>
        </p:nvSpPr>
        <p:spPr>
          <a:xfrm>
            <a:off x="3257550" y="3790950"/>
            <a:ext cx="8763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5C6F68"/>
                </a:solidFill>
              </a:defRPr>
            </a:pPr>
            <a:r>
              <a:rPr sz="3150" b="1">
                <a:solidFill>
                  <a:srgbClr val="5C6F68"/>
                </a:solidFill>
              </a:rPr>
              <a:t>→</a:t>
            </a:r>
            <a:endParaRPr sz="3150" b="1">
              <a:solidFill>
                <a:srgbClr val="5C6F68"/>
              </a:solidFill>
            </a:endParaRPr>
          </a:p>
        </p:txBody>
      </p:sp>
      <p:sp>
        <p:nvSpPr>
          <p:cNvPr id="25" name="node-中文回答"/>
          <p:cNvSpPr>
            <a:spLocks noGrp="1"/>
          </p:cNvSpPr>
          <p:nvPr/>
        </p:nvSpPr>
        <p:spPr>
          <a:xfrm>
            <a:off x="4286250" y="3798570"/>
            <a:ext cx="200025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26" name="node-text-中文回答"/>
          <p:cNvSpPr>
            <a:spLocks noGrp="1"/>
          </p:cNvSpPr>
          <p:nvPr/>
        </p:nvSpPr>
        <p:spPr>
          <a:xfrm>
            <a:off x="4438650" y="3924300"/>
            <a:ext cx="1695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F7A5A"/>
                </a:solidFill>
              </a:defRPr>
            </a:pPr>
            <a:r>
              <a:rPr sz="1650" b="1">
                <a:solidFill>
                  <a:srgbClr val="1F7A5A"/>
                </a:solidFill>
              </a:rPr>
              <a:t>中文回答</a:t>
            </a:r>
            <a:endParaRPr sz="1650" b="1">
              <a:solidFill>
                <a:srgbClr val="1F7A5A"/>
              </a:solidFill>
            </a:endParaRPr>
          </a:p>
        </p:txBody>
      </p:sp>
      <p:sp>
        <p:nvSpPr>
          <p:cNvPr id="27" name="arrow-symbol-"/>
          <p:cNvSpPr>
            <a:spLocks noGrp="1"/>
          </p:cNvSpPr>
          <p:nvPr/>
        </p:nvSpPr>
        <p:spPr>
          <a:xfrm>
            <a:off x="6438900" y="3790950"/>
            <a:ext cx="8763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5C6F68"/>
                </a:solidFill>
              </a:defRPr>
            </a:pPr>
            <a:r>
              <a:rPr sz="3150" b="1">
                <a:solidFill>
                  <a:srgbClr val="5C6F68"/>
                </a:solidFill>
              </a:rPr>
              <a:t>→</a:t>
            </a:r>
            <a:endParaRPr sz="3150" b="1">
              <a:solidFill>
                <a:srgbClr val="5C6F68"/>
              </a:solidFill>
            </a:endParaRPr>
          </a:p>
        </p:txBody>
      </p:sp>
      <p:sp>
        <p:nvSpPr>
          <p:cNvPr id="28" name="node-会话记录"/>
          <p:cNvSpPr>
            <a:spLocks noGrp="1"/>
          </p:cNvSpPr>
          <p:nvPr/>
        </p:nvSpPr>
        <p:spPr>
          <a:xfrm>
            <a:off x="7467600" y="3798570"/>
            <a:ext cx="200025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29" name="node-text-会话记录"/>
          <p:cNvSpPr>
            <a:spLocks noGrp="1"/>
          </p:cNvSpPr>
          <p:nvPr/>
        </p:nvSpPr>
        <p:spPr>
          <a:xfrm>
            <a:off x="7620000" y="3924300"/>
            <a:ext cx="1695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F7A5A"/>
                </a:solidFill>
              </a:defRPr>
            </a:pPr>
            <a:r>
              <a:rPr sz="1650" b="1">
                <a:solidFill>
                  <a:srgbClr val="1F7A5A"/>
                </a:solidFill>
              </a:rPr>
              <a:t>会话记录</a:t>
            </a:r>
            <a:endParaRPr sz="1650" b="1">
              <a:solidFill>
                <a:srgbClr val="1F7A5A"/>
              </a:solidFill>
            </a:endParaRPr>
          </a:p>
        </p:txBody>
      </p:sp>
      <p:sp>
        <p:nvSpPr>
          <p:cNvPr id="30" name="ai-caveat"/>
          <p:cNvSpPr>
            <a:spLocks noGrp="1"/>
          </p:cNvSpPr>
          <p:nvPr/>
        </p:nvSpPr>
        <p:spPr>
          <a:xfrm>
            <a:off x="914400" y="4705350"/>
            <a:ext cx="95440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C94A4A"/>
                </a:solidFill>
              </a:defRPr>
            </a:pPr>
            <a:r>
              <a:rPr sz="1875" b="1">
                <a:solidFill>
                  <a:srgbClr val="C94A4A"/>
                </a:solidFill>
              </a:rPr>
              <a:t>关键约束：监管结论仍由人工复核，AI 只做信息检索与表达增强。</a:t>
            </a:r>
            <a:endParaRPr sz="1875" b="1">
              <a:solidFill>
                <a:srgbClr val="C94A4A"/>
              </a:solidFill>
            </a:endParaRPr>
          </a:p>
        </p:txBody>
      </p:sp>
      <p:sp>
        <p:nvSpPr>
          <p:cNvPr id="31" name="rules-title"/>
          <p:cNvSpPr>
            <a:spLocks noGrp="1"/>
          </p:cNvSpPr>
          <p:nvPr/>
        </p:nvSpPr>
        <p:spPr>
          <a:xfrm>
            <a:off x="11010900" y="1962150"/>
            <a:ext cx="63627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13231E"/>
                </a:solidFill>
              </a:defRPr>
            </a:pPr>
            <a:r>
              <a:rPr sz="2100" b="1">
                <a:solidFill>
                  <a:srgbClr val="13231E"/>
                </a:solidFill>
              </a:rPr>
              <a:t>实现中的规则化检索</a:t>
            </a:r>
            <a:endParaRPr sz="2100" b="1">
              <a:solidFill>
                <a:srgbClr val="13231E"/>
              </a:solidFill>
            </a:endParaRPr>
          </a:p>
        </p:txBody>
      </p:sp>
      <p:sp>
        <p:nvSpPr>
          <p:cNvPr id="32" name="rule-batch"/>
          <p:cNvSpPr>
            <a:spLocks noGrp="1"/>
          </p:cNvSpPr>
          <p:nvPr/>
        </p:nvSpPr>
        <p:spPr>
          <a:xfrm>
            <a:off x="11010900" y="2514600"/>
            <a:ext cx="63627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2563A8"/>
                </a:solidFill>
              </a:defRPr>
            </a:pPr>
            <a:r>
              <a:rPr sz="2100" b="1">
                <a:solidFill>
                  <a:srgbClr val="2563A8"/>
                </a:solidFill>
              </a:rPr>
              <a:t>批号：B\d{6}[A-Z]?</a:t>
            </a:r>
            <a:endParaRPr sz="2100" b="1">
              <a:solidFill>
                <a:srgbClr val="2563A8"/>
              </a:solidFill>
            </a:endParaRPr>
          </a:p>
        </p:txBody>
      </p:sp>
      <p:sp>
        <p:nvSpPr>
          <p:cNvPr id="33" name="rule-drug"/>
          <p:cNvSpPr>
            <a:spLocks noGrp="1"/>
          </p:cNvSpPr>
          <p:nvPr/>
        </p:nvSpPr>
        <p:spPr>
          <a:xfrm>
            <a:off x="11010900" y="3067050"/>
            <a:ext cx="63627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1F9AA0"/>
                </a:solidFill>
              </a:defRPr>
            </a:pPr>
            <a:r>
              <a:rPr sz="2100" b="1">
                <a:solidFill>
                  <a:srgbClr val="1F9AA0"/>
                </a:solidFill>
              </a:rPr>
              <a:t>药品编码：RX\d{6}</a:t>
            </a:r>
            <a:endParaRPr sz="2100" b="1">
              <a:solidFill>
                <a:srgbClr val="1F9AA0"/>
              </a:solidFill>
            </a:endParaRPr>
          </a:p>
        </p:txBody>
      </p:sp>
      <p:sp>
        <p:nvSpPr>
          <p:cNvPr id="34" name="rule-keyword"/>
          <p:cNvSpPr>
            <a:spLocks noGrp="1"/>
          </p:cNvSpPr>
          <p:nvPr/>
        </p:nvSpPr>
        <p:spPr>
          <a:xfrm>
            <a:off x="11010900" y="3619500"/>
            <a:ext cx="6362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3231E"/>
                </a:solidFill>
              </a:defRPr>
            </a:pPr>
            <a:r>
              <a:rPr sz="1800">
                <a:solidFill>
                  <a:srgbClr val="13231E"/>
                </a:solidFill>
              </a:rPr>
              <a:t>关键词：库存 / 风险 / 不良反应 / 追溯 / 药品说明</a:t>
            </a:r>
            <a:endParaRPr sz="1800">
              <a:solidFill>
                <a:srgbClr val="13231E"/>
              </a:solidFill>
            </a:endParaRPr>
          </a:p>
        </p:txBody>
      </p:sp>
      <p:sp>
        <p:nvSpPr>
          <p:cNvPr id="35" name="rules-line"/>
          <p:cNvSpPr>
            <a:spLocks noGrp="1"/>
          </p:cNvSpPr>
          <p:nvPr/>
        </p:nvSpPr>
        <p:spPr>
          <a:xfrm>
            <a:off x="11010900" y="4114800"/>
            <a:ext cx="6362700" cy="19050"/>
          </a:xfrm>
          <a:prstGeom prst="rect">
            <a:avLst/>
          </a:prstGeom>
          <a:solidFill>
            <a:srgbClr val="D4E3DE"/>
          </a:solidFill>
          <a:ln w="0">
            <a:solidFill>
              <a:srgbClr val="D4E3DE"/>
            </a:solidFill>
            <a:prstDash val="solid"/>
          </a:ln>
        </p:spPr>
      </p:sp>
      <p:sp>
        <p:nvSpPr>
          <p:cNvPr id="36" name="rules-summary"/>
          <p:cNvSpPr>
            <a:spLocks noGrp="1"/>
          </p:cNvSpPr>
          <p:nvPr/>
        </p:nvSpPr>
        <p:spPr>
          <a:xfrm>
            <a:off x="11010900" y="4362450"/>
            <a:ext cx="63627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>
                <a:solidFill>
                  <a:srgbClr val="5C6F68"/>
                </a:solidFill>
              </a:defRPr>
            </a:pPr>
            <a:r>
              <a:rPr sz="1725">
                <a:solidFill>
                  <a:srgbClr val="5C6F68"/>
                </a:solidFill>
              </a:rPr>
              <a:t>这样做的目的：减少幻觉、保留可追溯事实、让答辩中能讲清算法边界。</a:t>
            </a:r>
            <a:endParaRPr sz="1725">
              <a:solidFill>
                <a:srgbClr val="5C6F68"/>
              </a:solidFill>
            </a:endParaRPr>
          </a:p>
        </p:txBody>
      </p:sp>
      <p:sp>
        <p:nvSpPr>
          <p:cNvPr id="37" name="footer"/>
          <p:cNvSpPr>
            <a:spLocks noGrp="1"/>
          </p:cNvSpPr>
          <p:nvPr/>
        </p:nvSpPr>
        <p:spPr>
          <a:xfrm>
            <a:off x="914400" y="9467850"/>
            <a:ext cx="164592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B8B86"/>
                </a:solidFill>
              </a:defRPr>
            </a:pPr>
            <a:r>
              <a:rPr sz="1050">
                <a:solidFill>
                  <a:srgbClr val="7B8B86"/>
                </a:solidFill>
              </a:rPr>
              <a:t>计算机221-25号 余梓杰 | 基于 Spring Boot 的药品追溯监管系统</a:t>
            </a:r>
            <a:endParaRPr sz="1050">
              <a:solidFill>
                <a:srgbClr val="7B8B8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nvas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8"/>
          </a:solidFill>
        </p:spPr>
      </p:sp>
      <p:sp>
        <p:nvSpPr>
          <p:cNvPr id="3" name="top-rule"/>
          <p:cNvSpPr>
            <a:spLocks noGrp="1"/>
          </p:cNvSpPr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1F7A5A"/>
          </a:solidFill>
        </p:spPr>
      </p:sp>
      <p:sp>
        <p:nvSpPr>
          <p:cNvPr id="4" name="slide-title"/>
          <p:cNvSpPr>
            <a:spLocks noGrp="1"/>
          </p:cNvSpPr>
          <p:nvPr/>
        </p:nvSpPr>
        <p:spPr>
          <a:xfrm>
            <a:off x="971550" y="666750"/>
            <a:ext cx="2798445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750" b="1">
                <a:solidFill>
                  <a:srgbClr val="13231E"/>
                </a:solidFill>
              </a:defRPr>
            </a:pPr>
            <a:r>
              <a:rPr sz="3750" b="1">
                <a:solidFill>
                  <a:srgbClr val="13231E"/>
                </a:solidFill>
              </a:rPr>
              <a:t>测试与结论</a:t>
            </a:r>
            <a:endParaRPr sz="3750" b="1">
              <a:solidFill>
                <a:srgbClr val="13231E"/>
              </a:solidFill>
            </a:endParaRPr>
          </a:p>
        </p:txBody>
      </p:sp>
      <p:sp>
        <p:nvSpPr>
          <p:cNvPr id="5" name="slide-subtitle"/>
          <p:cNvSpPr>
            <a:spLocks noGrp="1"/>
          </p:cNvSpPr>
          <p:nvPr/>
        </p:nvSpPr>
        <p:spPr>
          <a:xfrm>
            <a:off x="971550" y="1371600"/>
            <a:ext cx="8915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C6F68"/>
                </a:solidFill>
              </a:defRPr>
            </a:pPr>
            <a:r>
              <a:rPr sz="1800">
                <a:solidFill>
                  <a:srgbClr val="5C6F68"/>
                </a:solidFill>
              </a:rPr>
              <a:t>测试重点不是覆盖所有边角，而是验证核心链路、权限隔离、数据一致性和多端可用性。</a:t>
            </a:r>
            <a:endParaRPr sz="1800">
              <a:solidFill>
                <a:srgbClr val="5C6F68"/>
              </a:solidFill>
            </a:endParaRPr>
          </a:p>
        </p:txBody>
      </p:sp>
      <p:sp>
        <p:nvSpPr>
          <p:cNvPr id="6" name="test-heading"/>
          <p:cNvSpPr>
            <a:spLocks noGrp="1"/>
          </p:cNvSpPr>
          <p:nvPr/>
        </p:nvSpPr>
        <p:spPr>
          <a:xfrm>
            <a:off x="971550" y="1962150"/>
            <a:ext cx="7677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F7A5A"/>
                </a:solidFill>
              </a:defRPr>
            </a:pPr>
            <a:r>
              <a:rPr sz="2250" b="1">
                <a:solidFill>
                  <a:srgbClr val="1F7A5A"/>
                </a:solidFill>
              </a:rPr>
              <a:t>测试覆盖</a:t>
            </a:r>
            <a:endParaRPr sz="2250" b="1">
              <a:solidFill>
                <a:srgbClr val="1F7A5A"/>
              </a:solidFill>
            </a:endParaRPr>
          </a:p>
        </p:txBody>
      </p:sp>
      <p:sp>
        <p:nvSpPr>
          <p:cNvPr id="7" name="test-no-0"/>
          <p:cNvSpPr>
            <a:spLocks noGrp="1"/>
          </p:cNvSpPr>
          <p:nvPr/>
        </p:nvSpPr>
        <p:spPr>
          <a:xfrm>
            <a:off x="971550" y="2571750"/>
            <a:ext cx="457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8912B"/>
                </a:solidFill>
              </a:defRPr>
            </a:pPr>
            <a:r>
              <a:rPr sz="1650" b="1">
                <a:solidFill>
                  <a:srgbClr val="D8912B"/>
                </a:solidFill>
              </a:rPr>
              <a:t>01</a:t>
            </a:r>
            <a:endParaRPr sz="1650" b="1">
              <a:solidFill>
                <a:srgbClr val="D8912B"/>
              </a:solidFill>
            </a:endParaRPr>
          </a:p>
        </p:txBody>
      </p:sp>
      <p:sp>
        <p:nvSpPr>
          <p:cNvPr id="8" name="test-text-0"/>
          <p:cNvSpPr>
            <a:spLocks noGrp="1"/>
          </p:cNvSpPr>
          <p:nvPr/>
        </p:nvSpPr>
        <p:spPr>
          <a:xfrm>
            <a:off x="1581150" y="2571750"/>
            <a:ext cx="706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3231E"/>
                </a:solidFill>
              </a:defRPr>
            </a:pPr>
            <a:r>
              <a:rPr sz="1800">
                <a:solidFill>
                  <a:srgbClr val="13231E"/>
                </a:solidFill>
              </a:rPr>
              <a:t>登录认证与权限拦截</a:t>
            </a:r>
            <a:endParaRPr sz="1800">
              <a:solidFill>
                <a:srgbClr val="13231E"/>
              </a:solidFill>
            </a:endParaRPr>
          </a:p>
        </p:txBody>
      </p:sp>
      <p:sp>
        <p:nvSpPr>
          <p:cNvPr id="9" name="test-no-1"/>
          <p:cNvSpPr>
            <a:spLocks noGrp="1"/>
          </p:cNvSpPr>
          <p:nvPr/>
        </p:nvSpPr>
        <p:spPr>
          <a:xfrm>
            <a:off x="971550" y="3124200"/>
            <a:ext cx="457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8912B"/>
                </a:solidFill>
              </a:defRPr>
            </a:pPr>
            <a:r>
              <a:rPr sz="1650" b="1">
                <a:solidFill>
                  <a:srgbClr val="D8912B"/>
                </a:solidFill>
              </a:rPr>
              <a:t>02</a:t>
            </a:r>
            <a:endParaRPr sz="1650" b="1">
              <a:solidFill>
                <a:srgbClr val="D8912B"/>
              </a:solidFill>
            </a:endParaRPr>
          </a:p>
        </p:txBody>
      </p:sp>
      <p:sp>
        <p:nvSpPr>
          <p:cNvPr id="10" name="test-text-1"/>
          <p:cNvSpPr>
            <a:spLocks noGrp="1"/>
          </p:cNvSpPr>
          <p:nvPr/>
        </p:nvSpPr>
        <p:spPr>
          <a:xfrm>
            <a:off x="1581150" y="3124200"/>
            <a:ext cx="706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3231E"/>
                </a:solidFill>
              </a:defRPr>
            </a:pPr>
            <a:r>
              <a:rPr sz="1800">
                <a:solidFill>
                  <a:srgbClr val="13231E"/>
                </a:solidFill>
              </a:rPr>
              <a:t>药品 / 批次 / 采购 / 销售 / 库存</a:t>
            </a:r>
            <a:endParaRPr sz="1800">
              <a:solidFill>
                <a:srgbClr val="13231E"/>
              </a:solidFill>
            </a:endParaRPr>
          </a:p>
        </p:txBody>
      </p:sp>
      <p:sp>
        <p:nvSpPr>
          <p:cNvPr id="11" name="test-no-2"/>
          <p:cNvSpPr>
            <a:spLocks noGrp="1"/>
          </p:cNvSpPr>
          <p:nvPr/>
        </p:nvSpPr>
        <p:spPr>
          <a:xfrm>
            <a:off x="971550" y="3657600"/>
            <a:ext cx="457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8912B"/>
                </a:solidFill>
              </a:defRPr>
            </a:pPr>
            <a:r>
              <a:rPr sz="1650" b="1">
                <a:solidFill>
                  <a:srgbClr val="D8912B"/>
                </a:solidFill>
              </a:rPr>
              <a:t>03</a:t>
            </a:r>
            <a:endParaRPr sz="1650" b="1">
              <a:solidFill>
                <a:srgbClr val="D8912B"/>
              </a:solidFill>
            </a:endParaRPr>
          </a:p>
        </p:txBody>
      </p:sp>
      <p:sp>
        <p:nvSpPr>
          <p:cNvPr id="12" name="test-text-2"/>
          <p:cNvSpPr>
            <a:spLocks noGrp="1"/>
          </p:cNvSpPr>
          <p:nvPr/>
        </p:nvSpPr>
        <p:spPr>
          <a:xfrm>
            <a:off x="1581150" y="3657600"/>
            <a:ext cx="706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3231E"/>
                </a:solidFill>
              </a:defRPr>
            </a:pPr>
            <a:r>
              <a:rPr sz="1800">
                <a:solidFill>
                  <a:srgbClr val="13231E"/>
                </a:solidFill>
              </a:rPr>
              <a:t>监管任务派发、调查、处置</a:t>
            </a:r>
            <a:endParaRPr sz="1800">
              <a:solidFill>
                <a:srgbClr val="13231E"/>
              </a:solidFill>
            </a:endParaRPr>
          </a:p>
        </p:txBody>
      </p:sp>
      <p:sp>
        <p:nvSpPr>
          <p:cNvPr id="13" name="test-no-3"/>
          <p:cNvSpPr>
            <a:spLocks noGrp="1"/>
          </p:cNvSpPr>
          <p:nvPr/>
        </p:nvSpPr>
        <p:spPr>
          <a:xfrm>
            <a:off x="971550" y="4210050"/>
            <a:ext cx="457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8912B"/>
                </a:solidFill>
              </a:defRPr>
            </a:pPr>
            <a:r>
              <a:rPr sz="1650" b="1">
                <a:solidFill>
                  <a:srgbClr val="D8912B"/>
                </a:solidFill>
              </a:rPr>
              <a:t>04</a:t>
            </a:r>
            <a:endParaRPr sz="1650" b="1">
              <a:solidFill>
                <a:srgbClr val="D8912B"/>
              </a:solidFill>
            </a:endParaRPr>
          </a:p>
        </p:txBody>
      </p:sp>
      <p:sp>
        <p:nvSpPr>
          <p:cNvPr id="14" name="test-text-3"/>
          <p:cNvSpPr>
            <a:spLocks noGrp="1"/>
          </p:cNvSpPr>
          <p:nvPr/>
        </p:nvSpPr>
        <p:spPr>
          <a:xfrm>
            <a:off x="1581150" y="4210050"/>
            <a:ext cx="706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3231E"/>
                </a:solidFill>
              </a:defRPr>
            </a:pPr>
            <a:r>
              <a:rPr sz="1800">
                <a:solidFill>
                  <a:srgbClr val="13231E"/>
                </a:solidFill>
              </a:rPr>
              <a:t>追溯图谱、统计分析、报表消息</a:t>
            </a:r>
            <a:endParaRPr sz="1800">
              <a:solidFill>
                <a:srgbClr val="13231E"/>
              </a:solidFill>
            </a:endParaRPr>
          </a:p>
        </p:txBody>
      </p:sp>
      <p:sp>
        <p:nvSpPr>
          <p:cNvPr id="15" name="test-no-4"/>
          <p:cNvSpPr>
            <a:spLocks noGrp="1"/>
          </p:cNvSpPr>
          <p:nvPr/>
        </p:nvSpPr>
        <p:spPr>
          <a:xfrm>
            <a:off x="971550" y="4743450"/>
            <a:ext cx="457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D8912B"/>
                </a:solidFill>
              </a:defRPr>
            </a:pPr>
            <a:r>
              <a:rPr sz="1650" b="1">
                <a:solidFill>
                  <a:srgbClr val="D8912B"/>
                </a:solidFill>
              </a:rPr>
              <a:t>05</a:t>
            </a:r>
            <a:endParaRPr sz="1650" b="1">
              <a:solidFill>
                <a:srgbClr val="D8912B"/>
              </a:solidFill>
            </a:endParaRPr>
          </a:p>
        </p:txBody>
      </p:sp>
      <p:sp>
        <p:nvSpPr>
          <p:cNvPr id="16" name="test-text-4"/>
          <p:cNvSpPr>
            <a:spLocks noGrp="1"/>
          </p:cNvSpPr>
          <p:nvPr/>
        </p:nvSpPr>
        <p:spPr>
          <a:xfrm>
            <a:off x="1581150" y="4743450"/>
            <a:ext cx="70675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3231E"/>
                </a:solidFill>
              </a:defRPr>
            </a:pPr>
            <a:r>
              <a:rPr sz="1800">
                <a:solidFill>
                  <a:srgbClr val="13231E"/>
                </a:solidFill>
              </a:rPr>
              <a:t>扫码增强、数据交换、AI 问答</a:t>
            </a:r>
            <a:endParaRPr sz="1800">
              <a:solidFill>
                <a:srgbClr val="13231E"/>
              </a:solidFill>
            </a:endParaRPr>
          </a:p>
        </p:txBody>
      </p:sp>
      <p:sp>
        <p:nvSpPr>
          <p:cNvPr id="17" name="result-heading"/>
          <p:cNvSpPr>
            <a:spLocks noGrp="1"/>
          </p:cNvSpPr>
          <p:nvPr/>
        </p:nvSpPr>
        <p:spPr>
          <a:xfrm>
            <a:off x="9239250" y="1962150"/>
            <a:ext cx="80772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2563A8"/>
                </a:solidFill>
              </a:defRPr>
            </a:pPr>
            <a:r>
              <a:rPr sz="2250" b="1">
                <a:solidFill>
                  <a:srgbClr val="2563A8"/>
                </a:solidFill>
              </a:rPr>
              <a:t>结论与不足</a:t>
            </a:r>
            <a:endParaRPr sz="2250" b="1">
              <a:solidFill>
                <a:srgbClr val="2563A8"/>
              </a:solidFill>
            </a:endParaRPr>
          </a:p>
        </p:txBody>
      </p:sp>
      <p:sp>
        <p:nvSpPr>
          <p:cNvPr id="18" name="result-main"/>
          <p:cNvSpPr>
            <a:spLocks noGrp="1"/>
          </p:cNvSpPr>
          <p:nvPr/>
        </p:nvSpPr>
        <p:spPr>
          <a:xfrm>
            <a:off x="9239250" y="2571750"/>
            <a:ext cx="8077200" cy="933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3231E"/>
                </a:solidFill>
              </a:defRPr>
            </a:pPr>
            <a:r>
              <a:rPr sz="2025" b="1">
                <a:solidFill>
                  <a:srgbClr val="13231E"/>
                </a:solidFill>
              </a:rPr>
              <a:t>系统已能稳定支撑两条主流程：</a:t>
            </a:r>
            <a:endParaRPr sz="2025" b="1">
              <a:solidFill>
                <a:srgbClr val="13231E"/>
              </a:solidFill>
            </a:endParaRPr>
          </a:p>
          <a:p>
            <a:pPr>
              <a:defRPr sz="2025" b="1">
                <a:solidFill>
                  <a:srgbClr val="13231E"/>
                </a:solidFill>
              </a:defRPr>
            </a:pPr>
            <a:r>
              <a:rPr sz="2025" b="1">
                <a:solidFill>
                  <a:srgbClr val="13231E"/>
                </a:solidFill>
              </a:rPr>
              <a:t>“药品主数据—批次—流通—库存”追溯主链；</a:t>
            </a:r>
            <a:endParaRPr sz="2025" b="1">
              <a:solidFill>
                <a:srgbClr val="13231E"/>
              </a:solidFill>
            </a:endParaRPr>
          </a:p>
          <a:p>
            <a:pPr>
              <a:defRPr sz="2025" b="1">
                <a:solidFill>
                  <a:srgbClr val="13231E"/>
                </a:solidFill>
              </a:defRPr>
            </a:pPr>
            <a:r>
              <a:rPr sz="2025" b="1">
                <a:solidFill>
                  <a:srgbClr val="13231E"/>
                </a:solidFill>
              </a:rPr>
              <a:t>“线索上报—任务派发—调查处置—结果归档”监管闭环。</a:t>
            </a:r>
            <a:endParaRPr sz="2025" b="1">
              <a:solidFill>
                <a:srgbClr val="13231E"/>
              </a:solidFill>
            </a:endParaRPr>
          </a:p>
        </p:txBody>
      </p:sp>
      <p:sp>
        <p:nvSpPr>
          <p:cNvPr id="19" name="result-rule"/>
          <p:cNvSpPr>
            <a:spLocks noGrp="1"/>
          </p:cNvSpPr>
          <p:nvPr/>
        </p:nvSpPr>
        <p:spPr>
          <a:xfrm>
            <a:off x="9239250" y="3771900"/>
            <a:ext cx="8077200" cy="19050"/>
          </a:xfrm>
          <a:prstGeom prst="rect">
            <a:avLst/>
          </a:prstGeom>
          <a:solidFill>
            <a:srgbClr val="D4E3DE"/>
          </a:solidFill>
          <a:ln w="0">
            <a:solidFill>
              <a:srgbClr val="D4E3DE"/>
            </a:solidFill>
            <a:prstDash val="solid"/>
          </a:ln>
        </p:spPr>
      </p:sp>
      <p:sp>
        <p:nvSpPr>
          <p:cNvPr id="20" name="future"/>
          <p:cNvSpPr>
            <a:spLocks noGrp="1"/>
          </p:cNvSpPr>
          <p:nvPr/>
        </p:nvSpPr>
        <p:spPr>
          <a:xfrm>
            <a:off x="9239250" y="4057650"/>
            <a:ext cx="8077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5C6F68"/>
                </a:solidFill>
              </a:defRPr>
            </a:pPr>
            <a:r>
              <a:rPr sz="1800">
                <a:solidFill>
                  <a:srgbClr val="5C6F68"/>
                </a:solidFill>
              </a:rPr>
              <a:t>后续优化：高并发库存一致性、弱网体验、批量导入性能、AI 结果稳定性、安全专项测试。</a:t>
            </a:r>
            <a:endParaRPr sz="1800">
              <a:solidFill>
                <a:srgbClr val="5C6F68"/>
              </a:solidFill>
            </a:endParaRPr>
          </a:p>
        </p:txBody>
      </p:sp>
      <p:sp>
        <p:nvSpPr>
          <p:cNvPr id="21" name="footer"/>
          <p:cNvSpPr>
            <a:spLocks noGrp="1"/>
          </p:cNvSpPr>
          <p:nvPr/>
        </p:nvSpPr>
        <p:spPr>
          <a:xfrm>
            <a:off x="971550" y="9467850"/>
            <a:ext cx="163449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B8B86"/>
                </a:solidFill>
              </a:defRPr>
            </a:pPr>
            <a:r>
              <a:rPr sz="1050">
                <a:solidFill>
                  <a:srgbClr val="7B8B86"/>
                </a:solidFill>
              </a:rPr>
              <a:t>计算机221-25号 余梓杰 | 基于 Spring Boot 的药品追溯监管系统</a:t>
            </a:r>
            <a:endParaRPr sz="1050">
              <a:solidFill>
                <a:srgbClr val="7B8B8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nvas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EF6F3"/>
          </a:solidFill>
        </p:spPr>
      </p:sp>
      <p:sp>
        <p:nvSpPr>
          <p:cNvPr id="3" name="top-rule"/>
          <p:cNvSpPr>
            <a:spLocks noGrp="1"/>
          </p:cNvSpPr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1F7A5A"/>
          </a:solidFill>
        </p:spPr>
      </p:sp>
      <p:sp>
        <p:nvSpPr>
          <p:cNvPr id="4" name="closing-kicker"/>
          <p:cNvSpPr>
            <a:spLocks noGrp="1"/>
          </p:cNvSpPr>
          <p:nvPr/>
        </p:nvSpPr>
        <p:spPr>
          <a:xfrm>
            <a:off x="1238250" y="1143000"/>
            <a:ext cx="15811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1F7A5A"/>
                </a:solidFill>
              </a:defRPr>
            </a:pPr>
            <a:r>
              <a:rPr sz="2100" b="1">
                <a:solidFill>
                  <a:srgbClr val="1F7A5A"/>
                </a:solidFill>
              </a:rPr>
              <a:t>答辩收束</a:t>
            </a:r>
            <a:endParaRPr sz="2100" b="1">
              <a:solidFill>
                <a:srgbClr val="1F7A5A"/>
              </a:solidFill>
            </a:endParaRPr>
          </a:p>
        </p:txBody>
      </p:sp>
      <p:sp>
        <p:nvSpPr>
          <p:cNvPr id="5" name="closing-title"/>
          <p:cNvSpPr>
            <a:spLocks noGrp="1"/>
          </p:cNvSpPr>
          <p:nvPr/>
        </p:nvSpPr>
        <p:spPr>
          <a:xfrm>
            <a:off x="1238250" y="1866900"/>
            <a:ext cx="1445641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800" b="1">
                <a:solidFill>
                  <a:srgbClr val="13231E"/>
                </a:solidFill>
              </a:defRPr>
            </a:pPr>
            <a:r>
              <a:rPr sz="4800" b="1">
                <a:solidFill>
                  <a:srgbClr val="13231E"/>
                </a:solidFill>
              </a:rPr>
              <a:t>本项目完成了从需求、设计、实现到测试的闭环实践</a:t>
            </a:r>
            <a:endParaRPr sz="4800" b="1">
              <a:solidFill>
                <a:srgbClr val="13231E"/>
              </a:solidFill>
            </a:endParaRPr>
          </a:p>
        </p:txBody>
      </p:sp>
      <p:sp>
        <p:nvSpPr>
          <p:cNvPr id="6" name="closing-body"/>
          <p:cNvSpPr>
            <a:spLocks noGrp="1"/>
          </p:cNvSpPr>
          <p:nvPr/>
        </p:nvSpPr>
        <p:spPr>
          <a:xfrm>
            <a:off x="1238250" y="2990850"/>
            <a:ext cx="117348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5C6F68"/>
                </a:solidFill>
              </a:defRPr>
            </a:pPr>
            <a:r>
              <a:rPr sz="2250">
                <a:solidFill>
                  <a:srgbClr val="5C6F68"/>
                </a:solidFill>
              </a:rPr>
              <a:t>核心价值：用统一身份和批次主线打通多角色业务，用监管任务闭环提升问题处置效率，用 AI 与扫码增强降低查询和现场操作成本。</a:t>
            </a:r>
            <a:endParaRPr sz="2250">
              <a:solidFill>
                <a:srgbClr val="5C6F68"/>
              </a:solidFill>
            </a:endParaRPr>
          </a:p>
        </p:txBody>
      </p:sp>
      <p:sp>
        <p:nvSpPr>
          <p:cNvPr id="7" name="capsule-安全访问"/>
          <p:cNvSpPr>
            <a:spLocks noGrp="1"/>
          </p:cNvSpPr>
          <p:nvPr/>
        </p:nvSpPr>
        <p:spPr>
          <a:xfrm>
            <a:off x="1238250" y="4080510"/>
            <a:ext cx="1028700" cy="358140"/>
          </a:xfrm>
          <a:prstGeom prst="roundRect">
            <a:avLst>
              <a:gd name="adj" fmla="val 50000"/>
            </a:avLst>
          </a:prstGeom>
          <a:solidFill>
            <a:srgbClr val="1F7A5A"/>
          </a:solidFill>
        </p:spPr>
      </p:sp>
      <p:sp>
        <p:nvSpPr>
          <p:cNvPr id="8" name="capsule-text-安全访问"/>
          <p:cNvSpPr>
            <a:spLocks noGrp="1"/>
          </p:cNvSpPr>
          <p:nvPr/>
        </p:nvSpPr>
        <p:spPr>
          <a:xfrm>
            <a:off x="1409700" y="4152900"/>
            <a:ext cx="685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安全访问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capsule-全链路追溯"/>
          <p:cNvSpPr>
            <a:spLocks noGrp="1"/>
          </p:cNvSpPr>
          <p:nvPr/>
        </p:nvSpPr>
        <p:spPr>
          <a:xfrm>
            <a:off x="2438400" y="4080510"/>
            <a:ext cx="1200150" cy="358140"/>
          </a:xfrm>
          <a:prstGeom prst="roundRect">
            <a:avLst>
              <a:gd name="adj" fmla="val 50000"/>
            </a:avLst>
          </a:prstGeom>
          <a:solidFill>
            <a:srgbClr val="2563A8"/>
          </a:solidFill>
        </p:spPr>
      </p:sp>
      <p:sp>
        <p:nvSpPr>
          <p:cNvPr id="10" name="capsule-text-全链路追溯"/>
          <p:cNvSpPr>
            <a:spLocks noGrp="1"/>
          </p:cNvSpPr>
          <p:nvPr/>
        </p:nvSpPr>
        <p:spPr>
          <a:xfrm>
            <a:off x="2609850" y="4152900"/>
            <a:ext cx="8572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全链路追溯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capsule-监管闭环"/>
          <p:cNvSpPr>
            <a:spLocks noGrp="1"/>
          </p:cNvSpPr>
          <p:nvPr/>
        </p:nvSpPr>
        <p:spPr>
          <a:xfrm>
            <a:off x="3810000" y="4080510"/>
            <a:ext cx="1028700" cy="358140"/>
          </a:xfrm>
          <a:prstGeom prst="roundRect">
            <a:avLst>
              <a:gd name="adj" fmla="val 50000"/>
            </a:avLst>
          </a:prstGeom>
          <a:solidFill>
            <a:srgbClr val="D8912B"/>
          </a:solidFill>
        </p:spPr>
      </p:sp>
      <p:sp>
        <p:nvSpPr>
          <p:cNvPr id="12" name="capsule-text-监管闭环"/>
          <p:cNvSpPr>
            <a:spLocks noGrp="1"/>
          </p:cNvSpPr>
          <p:nvPr/>
        </p:nvSpPr>
        <p:spPr>
          <a:xfrm>
            <a:off x="3981450" y="4152900"/>
            <a:ext cx="685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监管闭环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3" name="capsule-多端协同"/>
          <p:cNvSpPr>
            <a:spLocks noGrp="1"/>
          </p:cNvSpPr>
          <p:nvPr/>
        </p:nvSpPr>
        <p:spPr>
          <a:xfrm>
            <a:off x="5010150" y="4080510"/>
            <a:ext cx="1028700" cy="358140"/>
          </a:xfrm>
          <a:prstGeom prst="roundRect">
            <a:avLst>
              <a:gd name="adj" fmla="val 50000"/>
            </a:avLst>
          </a:prstGeom>
          <a:solidFill>
            <a:srgbClr val="1F9AA0"/>
          </a:solidFill>
        </p:spPr>
      </p:sp>
      <p:sp>
        <p:nvSpPr>
          <p:cNvPr id="14" name="capsule-text-多端协同"/>
          <p:cNvSpPr>
            <a:spLocks noGrp="1"/>
          </p:cNvSpPr>
          <p:nvPr/>
        </p:nvSpPr>
        <p:spPr>
          <a:xfrm>
            <a:off x="5181600" y="4152900"/>
            <a:ext cx="6858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多端协同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5" name="footer"/>
          <p:cNvSpPr>
            <a:spLocks noGrp="1"/>
          </p:cNvSpPr>
          <p:nvPr/>
        </p:nvSpPr>
        <p:spPr>
          <a:xfrm>
            <a:off x="1238250" y="4838700"/>
            <a:ext cx="15811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7B8B86"/>
                </a:solidFill>
              </a:defRPr>
            </a:pPr>
            <a:r>
              <a:rPr sz="1050">
                <a:solidFill>
                  <a:srgbClr val="7B8B86"/>
                </a:solidFill>
              </a:rPr>
              <a:t>谢谢各位老师，请批评指正</a:t>
            </a:r>
            <a:endParaRPr sz="1050">
              <a:solidFill>
                <a:srgbClr val="7B8B8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nvas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EF6F3"/>
          </a:solidFill>
        </p:spPr>
      </p:sp>
      <p:sp>
        <p:nvSpPr>
          <p:cNvPr id="3" name="canvas"/>
          <p:cNvSpPr>
            <a:spLocks noGrp="1"/>
          </p:cNvSpPr>
          <p:nvPr/>
        </p:nvSpPr>
        <p:spPr>
          <a:xfrm>
            <a:off x="127000" y="127000"/>
            <a:ext cx="18288000" cy="10287000"/>
          </a:xfrm>
          <a:prstGeom prst="rect">
            <a:avLst/>
          </a:prstGeom>
          <a:solidFill>
            <a:srgbClr val="EEF6F3"/>
          </a:solidFill>
        </p:spPr>
      </p:sp>
      <p:sp>
        <p:nvSpPr>
          <p:cNvPr id="4" name="top-rule"/>
          <p:cNvSpPr>
            <a:spLocks noGrp="1"/>
          </p:cNvSpPr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1F7A5A"/>
          </a:solidFill>
        </p:spPr>
      </p:sp>
      <p:sp>
        <p:nvSpPr>
          <p:cNvPr id="6" name="closing-title"/>
          <p:cNvSpPr>
            <a:spLocks noGrp="1"/>
          </p:cNvSpPr>
          <p:nvPr/>
        </p:nvSpPr>
        <p:spPr>
          <a:xfrm>
            <a:off x="6607810" y="4463415"/>
            <a:ext cx="5071745" cy="16141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800" b="1">
                <a:solidFill>
                  <a:srgbClr val="13231E"/>
                </a:solidFill>
              </a:defRPr>
            </a:pPr>
            <a:r>
              <a:rPr lang="zh-CN" sz="8800" b="1">
                <a:solidFill>
                  <a:srgbClr val="13231E"/>
                </a:solidFill>
              </a:rPr>
              <a:t>感谢观看！</a:t>
            </a:r>
            <a:endParaRPr lang="zh-CN" sz="8800" b="1">
              <a:solidFill>
                <a:srgbClr val="13231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1924</Words>
  <Application>WPS 演示</Application>
  <PresentationFormat>Converted Presentation</PresentationFormat>
  <Paragraphs>303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梓杰จุ๊บ</cp:lastModifiedBy>
  <cp:revision>3</cp:revision>
  <dcterms:created xsi:type="dcterms:W3CDTF">2026-05-06T09:04:39Z</dcterms:created>
  <dcterms:modified xsi:type="dcterms:W3CDTF">2026-05-06T09:06:51Z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6E85BEB477974928BC6DCC49373C72C8_12</vt:lpwstr>
  </property>
</Properties>
</file>